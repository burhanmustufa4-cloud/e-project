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162" r:id="rId1"/>
  </p:sldMasterIdLst>
  <p:notesMasterIdLst>
    <p:notesMasterId r:id="rId22"/>
  </p:notesMasterIdLst>
  <p:sldIdLst>
    <p:sldId id="256" r:id="rId2"/>
    <p:sldId id="257" r:id="rId3"/>
    <p:sldId id="258" r:id="rId4"/>
    <p:sldId id="259" r:id="rId5"/>
    <p:sldId id="260" r:id="rId6"/>
    <p:sldId id="264" r:id="rId7"/>
    <p:sldId id="265" r:id="rId8"/>
    <p:sldId id="287" r:id="rId9"/>
    <p:sldId id="290" r:id="rId10"/>
    <p:sldId id="308" r:id="rId11"/>
    <p:sldId id="291" r:id="rId12"/>
    <p:sldId id="309" r:id="rId13"/>
    <p:sldId id="292" r:id="rId14"/>
    <p:sldId id="293" r:id="rId15"/>
    <p:sldId id="310" r:id="rId16"/>
    <p:sldId id="294" r:id="rId17"/>
    <p:sldId id="311" r:id="rId18"/>
    <p:sldId id="295" r:id="rId19"/>
    <p:sldId id="312" r:id="rId20"/>
    <p:sldId id="307" r:id="rId21"/>
  </p:sldIdLst>
  <p:sldSz cx="12192000" cy="6858000"/>
  <p:notesSz cx="6858000" cy="9144000"/>
  <p:embeddedFontLst>
    <p:embeddedFont>
      <p:font typeface="Book Antiqua" panose="02040602050305030304" pitchFamily="18" charset="0"/>
      <p:regular r:id="rId23"/>
      <p:bold r:id="rId24"/>
      <p:italic r:id="rId25"/>
      <p:boldItalic r:id="rId26"/>
    </p:embeddedFont>
    <p:embeddedFont>
      <p:font typeface="Century Gothic" panose="020B0502020202020204" pitchFamily="34" charset="0"/>
      <p:regular r:id="rId27"/>
      <p:bold r:id="rId28"/>
      <p:italic r:id="rId29"/>
      <p:boldItalic r:id="rId30"/>
    </p:embeddedFont>
    <p:embeddedFont>
      <p:font typeface="Wingdings 3" panose="05040102010807070707" pitchFamily="18" charset="2"/>
      <p:regular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g8ZY1OgMgRojmEo4FstDEwYDJz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164197-BE05-4FB5-B5FD-9A166A81565E}">
  <a:tblStyle styleId="{C7164197-BE05-4FB5-B5FD-9A166A81565E}" styleName="Table_0">
    <a:wholeTbl>
      <a:tcTxStyle b="off" i="off">
        <a:font>
          <a:latin typeface="Aptos Light"/>
          <a:ea typeface="Aptos Light"/>
          <a:cs typeface="Aptos Light"/>
        </a:font>
        <a:schemeClr val="lt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94660"/>
  </p:normalViewPr>
  <p:slideViewPr>
    <p:cSldViewPr snapToGrid="0">
      <p:cViewPr>
        <p:scale>
          <a:sx n="75" d="100"/>
          <a:sy n="75" d="100"/>
        </p:scale>
        <p:origin x="274" y="2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63"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6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64"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1" name="Google Shape;63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7" name="Google Shape;63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3" name="Google Shape;64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9" name="Google Shape;72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745940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21197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221564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005848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634486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9719750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3550485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661641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224826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358598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118114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992452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354967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4889428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685331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3482207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6836257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4">
  <p:cSld name="Title 4">
    <p:bg>
      <p:bgPr>
        <a:solidFill>
          <a:schemeClr val="accent1"/>
        </a:solidFill>
        <a:effectLst/>
      </p:bgPr>
    </p:bg>
    <p:spTree>
      <p:nvGrpSpPr>
        <p:cNvPr id="1" name="Shape 15"/>
        <p:cNvGrpSpPr/>
        <p:nvPr/>
      </p:nvGrpSpPr>
      <p:grpSpPr>
        <a:xfrm>
          <a:off x="0" y="0"/>
          <a:ext cx="0" cy="0"/>
          <a:chOff x="0" y="0"/>
          <a:chExt cx="0" cy="0"/>
        </a:xfrm>
      </p:grpSpPr>
      <p:sp>
        <p:nvSpPr>
          <p:cNvPr id="16" name="Google Shape;16;p54"/>
          <p:cNvSpPr txBox="1">
            <a:spLocks noGrp="1"/>
          </p:cNvSpPr>
          <p:nvPr>
            <p:ph type="ctrTitle"/>
          </p:nvPr>
        </p:nvSpPr>
        <p:spPr>
          <a:xfrm>
            <a:off x="634029" y="634999"/>
            <a:ext cx="7152035" cy="55880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7500"/>
              <a:buFont typeface="Arial"/>
              <a:buNone/>
              <a:defRPr sz="75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4"/>
          <p:cNvSpPr txBox="1">
            <a:spLocks noGrp="1"/>
          </p:cNvSpPr>
          <p:nvPr>
            <p:ph type="subTitle" idx="1"/>
          </p:nvPr>
        </p:nvSpPr>
        <p:spPr>
          <a:xfrm>
            <a:off x="8172448" y="634999"/>
            <a:ext cx="3385516" cy="1494477"/>
          </a:xfrm>
          <a:prstGeom prst="rect">
            <a:avLst/>
          </a:prstGeom>
          <a:noFill/>
          <a:ln>
            <a:noFill/>
          </a:ln>
        </p:spPr>
        <p:txBody>
          <a:bodyPr spcFirstLastPara="1" wrap="square" lIns="91425" tIns="45700" rIns="91425" bIns="45700" anchor="t" anchorCtr="0">
            <a:normAutofit/>
          </a:bodyPr>
          <a:lstStyle>
            <a:lvl1pPr lvl="0" algn="r">
              <a:lnSpc>
                <a:spcPct val="90000"/>
              </a:lnSpc>
              <a:spcBef>
                <a:spcPts val="1000"/>
              </a:spcBef>
              <a:spcAft>
                <a:spcPts val="0"/>
              </a:spcAft>
              <a:buClr>
                <a:schemeClr val="lt1"/>
              </a:buClr>
              <a:buSzPts val="2000"/>
              <a:buNone/>
              <a:defRPr sz="2000" b="1" i="0">
                <a:solidFill>
                  <a:schemeClr val="lt1"/>
                </a:solidFill>
                <a:latin typeface="Arial"/>
                <a:ea typeface="Arial"/>
                <a:cs typeface="Arial"/>
                <a:sym typeface="Arial"/>
              </a:defRPr>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2649315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accent2"/>
        </a:solidFill>
        <a:effectLst/>
      </p:bgPr>
    </p:bg>
    <p:spTree>
      <p:nvGrpSpPr>
        <p:cNvPr id="1" name="Shape 384"/>
        <p:cNvGrpSpPr/>
        <p:nvPr/>
      </p:nvGrpSpPr>
      <p:grpSpPr>
        <a:xfrm>
          <a:off x="0" y="0"/>
          <a:ext cx="0" cy="0"/>
          <a:chOff x="0" y="0"/>
          <a:chExt cx="0" cy="0"/>
        </a:xfrm>
      </p:grpSpPr>
      <p:sp>
        <p:nvSpPr>
          <p:cNvPr id="385" name="Google Shape;385;p57"/>
          <p:cNvSpPr txBox="1">
            <a:spLocks noGrp="1"/>
          </p:cNvSpPr>
          <p:nvPr>
            <p:ph type="ctrTitle"/>
          </p:nvPr>
        </p:nvSpPr>
        <p:spPr>
          <a:xfrm>
            <a:off x="634028" y="1748474"/>
            <a:ext cx="7538425" cy="4474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1"/>
              </a:buClr>
              <a:buSzPts val="6000"/>
              <a:buFont typeface="Arial"/>
              <a:buNone/>
              <a:defRPr sz="6000"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07479709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 Large 4">
  <p:cSld name="Number Large 4">
    <p:bg>
      <p:bgPr>
        <a:solidFill>
          <a:schemeClr val="accent1"/>
        </a:solidFill>
        <a:effectLst/>
      </p:bgPr>
    </p:bg>
    <p:spTree>
      <p:nvGrpSpPr>
        <p:cNvPr id="1" name="Shape 386"/>
        <p:cNvGrpSpPr/>
        <p:nvPr/>
      </p:nvGrpSpPr>
      <p:grpSpPr>
        <a:xfrm>
          <a:off x="0" y="0"/>
          <a:ext cx="0" cy="0"/>
          <a:chOff x="0" y="0"/>
          <a:chExt cx="0" cy="0"/>
        </a:xfrm>
      </p:grpSpPr>
      <p:sp>
        <p:nvSpPr>
          <p:cNvPr id="387" name="Google Shape;387;p59"/>
          <p:cNvSpPr txBox="1">
            <a:spLocks noGrp="1"/>
          </p:cNvSpPr>
          <p:nvPr>
            <p:ph type="title"/>
          </p:nvPr>
        </p:nvSpPr>
        <p:spPr>
          <a:xfrm>
            <a:off x="8164508" y="1001715"/>
            <a:ext cx="3393455" cy="5221285"/>
          </a:xfrm>
          <a:prstGeom prst="rect">
            <a:avLst/>
          </a:prstGeom>
          <a:noFill/>
          <a:ln>
            <a:noFill/>
          </a:ln>
        </p:spPr>
        <p:txBody>
          <a:bodyPr spcFirstLastPara="1" wrap="square" lIns="91425" tIns="45700" rIns="91425" bIns="45700" anchor="b" anchorCtr="0">
            <a:normAutofit/>
          </a:bodyPr>
          <a:lstStyle>
            <a:lvl1pPr lvl="0" algn="l">
              <a:lnSpc>
                <a:spcPct val="110000"/>
              </a:lnSpc>
              <a:spcBef>
                <a:spcPts val="0"/>
              </a:spcBef>
              <a:spcAft>
                <a:spcPts val="0"/>
              </a:spcAft>
              <a:buClr>
                <a:schemeClr val="lt1"/>
              </a:buClr>
              <a:buSzPts val="2000"/>
              <a:buFont typeface="Arial"/>
              <a:buNone/>
              <a:defRPr sz="2000" b="1" i="0" u="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8" name="Google Shape;388;p59"/>
          <p:cNvSpPr txBox="1">
            <a:spLocks noGrp="1"/>
          </p:cNvSpPr>
          <p:nvPr>
            <p:ph type="body" idx="1"/>
          </p:nvPr>
        </p:nvSpPr>
        <p:spPr>
          <a:xfrm>
            <a:off x="634029" y="1040964"/>
            <a:ext cx="7144095" cy="584606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8000"/>
              <a:buNone/>
              <a:defRPr sz="28000" b="0" i="0" u="sng">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2987535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Picture 7">
  <p:cSld name="Content with Picture 7">
    <p:bg>
      <p:bgPr>
        <a:solidFill>
          <a:schemeClr val="accent1"/>
        </a:solidFill>
        <a:effectLst/>
      </p:bgPr>
    </p:bg>
    <p:spTree>
      <p:nvGrpSpPr>
        <p:cNvPr id="1" name="Shape 389"/>
        <p:cNvGrpSpPr/>
        <p:nvPr/>
      </p:nvGrpSpPr>
      <p:grpSpPr>
        <a:xfrm>
          <a:off x="0" y="0"/>
          <a:ext cx="0" cy="0"/>
          <a:chOff x="0" y="0"/>
          <a:chExt cx="0" cy="0"/>
        </a:xfrm>
      </p:grpSpPr>
      <p:sp>
        <p:nvSpPr>
          <p:cNvPr id="390" name="Google Shape;390;p63"/>
          <p:cNvSpPr txBox="1">
            <a:spLocks noGrp="1"/>
          </p:cNvSpPr>
          <p:nvPr>
            <p:ph type="title"/>
          </p:nvPr>
        </p:nvSpPr>
        <p:spPr>
          <a:xfrm>
            <a:off x="6843095" y="1011935"/>
            <a:ext cx="4714869" cy="1112153"/>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1" name="Google Shape;391;p63"/>
          <p:cNvSpPr txBox="1">
            <a:spLocks noGrp="1"/>
          </p:cNvSpPr>
          <p:nvPr>
            <p:ph type="ftr" idx="11"/>
          </p:nvPr>
        </p:nvSpPr>
        <p:spPr>
          <a:xfrm>
            <a:off x="653237" y="0"/>
            <a:ext cx="2836870" cy="63093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2" name="Google Shape;392;p63"/>
          <p:cNvSpPr txBox="1">
            <a:spLocks noGrp="1"/>
          </p:cNvSpPr>
          <p:nvPr>
            <p:ph type="dt" idx="10"/>
          </p:nvPr>
        </p:nvSpPr>
        <p:spPr>
          <a:xfrm>
            <a:off x="9687910" y="0"/>
            <a:ext cx="927080" cy="63093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3" name="Google Shape;393;p63"/>
          <p:cNvSpPr txBox="1">
            <a:spLocks noGrp="1"/>
          </p:cNvSpPr>
          <p:nvPr>
            <p:ph type="sldNum" idx="12"/>
          </p:nvPr>
        </p:nvSpPr>
        <p:spPr>
          <a:xfrm>
            <a:off x="11009324" y="0"/>
            <a:ext cx="548640" cy="63093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1" i="0">
                <a:solidFill>
                  <a:schemeClr val="lt1"/>
                </a:solidFill>
                <a:latin typeface="Arial"/>
                <a:ea typeface="Arial"/>
                <a:cs typeface="Arial"/>
                <a:sym typeface="Arial"/>
              </a:defRPr>
            </a:lvl1pPr>
            <a:lvl2pPr marL="0" lvl="1" indent="0" algn="r">
              <a:spcBef>
                <a:spcPts val="0"/>
              </a:spcBef>
              <a:buNone/>
              <a:defRPr sz="900" b="1" i="0">
                <a:solidFill>
                  <a:schemeClr val="lt1"/>
                </a:solidFill>
                <a:latin typeface="Arial"/>
                <a:ea typeface="Arial"/>
                <a:cs typeface="Arial"/>
                <a:sym typeface="Arial"/>
              </a:defRPr>
            </a:lvl2pPr>
            <a:lvl3pPr marL="0" lvl="2" indent="0" algn="r">
              <a:spcBef>
                <a:spcPts val="0"/>
              </a:spcBef>
              <a:buNone/>
              <a:defRPr sz="900" b="1" i="0">
                <a:solidFill>
                  <a:schemeClr val="lt1"/>
                </a:solidFill>
                <a:latin typeface="Arial"/>
                <a:ea typeface="Arial"/>
                <a:cs typeface="Arial"/>
                <a:sym typeface="Arial"/>
              </a:defRPr>
            </a:lvl3pPr>
            <a:lvl4pPr marL="0" lvl="3" indent="0" algn="r">
              <a:spcBef>
                <a:spcPts val="0"/>
              </a:spcBef>
              <a:buNone/>
              <a:defRPr sz="900" b="1" i="0">
                <a:solidFill>
                  <a:schemeClr val="lt1"/>
                </a:solidFill>
                <a:latin typeface="Arial"/>
                <a:ea typeface="Arial"/>
                <a:cs typeface="Arial"/>
                <a:sym typeface="Arial"/>
              </a:defRPr>
            </a:lvl4pPr>
            <a:lvl5pPr marL="0" lvl="4" indent="0" algn="r">
              <a:spcBef>
                <a:spcPts val="0"/>
              </a:spcBef>
              <a:buNone/>
              <a:defRPr sz="900" b="1" i="0">
                <a:solidFill>
                  <a:schemeClr val="lt1"/>
                </a:solidFill>
                <a:latin typeface="Arial"/>
                <a:ea typeface="Arial"/>
                <a:cs typeface="Arial"/>
                <a:sym typeface="Arial"/>
              </a:defRPr>
            </a:lvl5pPr>
            <a:lvl6pPr marL="0" lvl="5" indent="0" algn="r">
              <a:spcBef>
                <a:spcPts val="0"/>
              </a:spcBef>
              <a:buNone/>
              <a:defRPr sz="900" b="1" i="0">
                <a:solidFill>
                  <a:schemeClr val="lt1"/>
                </a:solidFill>
                <a:latin typeface="Arial"/>
                <a:ea typeface="Arial"/>
                <a:cs typeface="Arial"/>
                <a:sym typeface="Arial"/>
              </a:defRPr>
            </a:lvl6pPr>
            <a:lvl7pPr marL="0" lvl="6" indent="0" algn="r">
              <a:spcBef>
                <a:spcPts val="0"/>
              </a:spcBef>
              <a:buNone/>
              <a:defRPr sz="900" b="1" i="0">
                <a:solidFill>
                  <a:schemeClr val="lt1"/>
                </a:solidFill>
                <a:latin typeface="Arial"/>
                <a:ea typeface="Arial"/>
                <a:cs typeface="Arial"/>
                <a:sym typeface="Arial"/>
              </a:defRPr>
            </a:lvl7pPr>
            <a:lvl8pPr marL="0" lvl="7" indent="0" algn="r">
              <a:spcBef>
                <a:spcPts val="0"/>
              </a:spcBef>
              <a:buNone/>
              <a:defRPr sz="900" b="1" i="0">
                <a:solidFill>
                  <a:schemeClr val="lt1"/>
                </a:solidFill>
                <a:latin typeface="Arial"/>
                <a:ea typeface="Arial"/>
                <a:cs typeface="Arial"/>
                <a:sym typeface="Arial"/>
              </a:defRPr>
            </a:lvl8pPr>
            <a:lvl9pPr marL="0" lvl="8" indent="0" algn="r">
              <a:spcBef>
                <a:spcPts val="0"/>
              </a:spcBef>
              <a:buNone/>
              <a:defRPr sz="900" b="1"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94" name="Google Shape;394;p63"/>
          <p:cNvPicPr preferRelativeResize="0">
            <a:picLocks noGrp="1"/>
          </p:cNvPicPr>
          <p:nvPr>
            <p:ph type="pic" idx="2"/>
          </p:nvPr>
        </p:nvPicPr>
        <p:blipFill/>
        <p:spPr>
          <a:xfrm>
            <a:off x="634029" y="630936"/>
            <a:ext cx="5652469" cy="5592063"/>
          </a:xfrm>
          <a:prstGeom prst="rect">
            <a:avLst/>
          </a:prstGeom>
          <a:blipFill rotWithShape="1">
            <a:blip r:embed="rId2">
              <a:alphaModFix amt="60000"/>
            </a:blip>
            <a:stretch>
              <a:fillRect/>
            </a:stretch>
          </a:blipFill>
          <a:ln>
            <a:noFill/>
          </a:ln>
        </p:spPr>
      </p:pic>
      <p:sp>
        <p:nvSpPr>
          <p:cNvPr id="395" name="Google Shape;395;p63"/>
          <p:cNvSpPr txBox="1">
            <a:spLocks noGrp="1"/>
          </p:cNvSpPr>
          <p:nvPr>
            <p:ph type="body" idx="1"/>
          </p:nvPr>
        </p:nvSpPr>
        <p:spPr>
          <a:xfrm>
            <a:off x="6861021" y="2496190"/>
            <a:ext cx="4696943" cy="3726809"/>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lt1"/>
              </a:buClr>
              <a:buSzPts val="2000"/>
              <a:buChar char="•"/>
              <a:defRPr>
                <a:solidFill>
                  <a:schemeClr val="lt1"/>
                </a:solidFill>
              </a:defRPr>
            </a:lvl1pPr>
            <a:lvl2pPr marL="914400" lvl="1" indent="-342900" algn="l">
              <a:lnSpc>
                <a:spcPct val="90000"/>
              </a:lnSpc>
              <a:spcBef>
                <a:spcPts val="500"/>
              </a:spcBef>
              <a:spcAft>
                <a:spcPts val="0"/>
              </a:spcAft>
              <a:buClr>
                <a:schemeClr val="lt1"/>
              </a:buClr>
              <a:buSzPts val="1800"/>
              <a:buChar char="•"/>
              <a:defRPr>
                <a:solidFill>
                  <a:schemeClr val="lt1"/>
                </a:solidFill>
              </a:defRPr>
            </a:lvl2pPr>
            <a:lvl3pPr marL="1371600" lvl="2" indent="-330200" algn="l">
              <a:lnSpc>
                <a:spcPct val="90000"/>
              </a:lnSpc>
              <a:spcBef>
                <a:spcPts val="500"/>
              </a:spcBef>
              <a:spcAft>
                <a:spcPts val="0"/>
              </a:spcAft>
              <a:buClr>
                <a:schemeClr val="lt1"/>
              </a:buClr>
              <a:buSzPts val="1600"/>
              <a:buChar char="•"/>
              <a:defRPr>
                <a:solidFill>
                  <a:schemeClr val="lt1"/>
                </a:solidFill>
              </a:defRPr>
            </a:lvl3pPr>
            <a:lvl4pPr marL="1828800" lvl="3" indent="-317500" algn="l">
              <a:lnSpc>
                <a:spcPct val="90000"/>
              </a:lnSpc>
              <a:spcBef>
                <a:spcPts val="500"/>
              </a:spcBef>
              <a:spcAft>
                <a:spcPts val="0"/>
              </a:spcAft>
              <a:buClr>
                <a:schemeClr val="lt1"/>
              </a:buClr>
              <a:buSzPts val="1400"/>
              <a:buChar char="•"/>
              <a:defRPr>
                <a:solidFill>
                  <a:schemeClr val="lt1"/>
                </a:solidFill>
              </a:defRPr>
            </a:lvl4pPr>
            <a:lvl5pPr marL="2286000" lvl="4" indent="-304800" algn="l">
              <a:lnSpc>
                <a:spcPct val="90000"/>
              </a:lnSpc>
              <a:spcBef>
                <a:spcPts val="500"/>
              </a:spcBef>
              <a:spcAft>
                <a:spcPts val="0"/>
              </a:spcAft>
              <a:buClr>
                <a:schemeClr val="lt1"/>
              </a:buClr>
              <a:buSzPts val="1200"/>
              <a:buChar char="•"/>
              <a:defRPr>
                <a:solidFill>
                  <a:schemeClr val="lt1"/>
                </a:solidFill>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1675520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9277024"/>
      </p:ext>
    </p:extLst>
  </p:cSld>
  <p:clrMap bg1="dk1" tx1="lt1" bg2="dk2" tx2="lt2" accent1="accent1" accent2="accent2" accent3="accent3" accent4="accent4" accent5="accent5" accent6="accent6" hlink="hlink" folHlink="folHlink"/>
  <p:sldLayoutIdLst>
    <p:sldLayoutId id="2147484163" r:id="rId1"/>
    <p:sldLayoutId id="2147484164" r:id="rId2"/>
    <p:sldLayoutId id="2147484165" r:id="rId3"/>
    <p:sldLayoutId id="2147484166" r:id="rId4"/>
    <p:sldLayoutId id="2147484167" r:id="rId5"/>
    <p:sldLayoutId id="2147484168" r:id="rId6"/>
    <p:sldLayoutId id="2147484169" r:id="rId7"/>
    <p:sldLayoutId id="2147484170"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399"/>
        <p:cNvGrpSpPr/>
        <p:nvPr/>
      </p:nvGrpSpPr>
      <p:grpSpPr>
        <a:xfrm>
          <a:off x="0" y="0"/>
          <a:ext cx="0" cy="0"/>
          <a:chOff x="0" y="0"/>
          <a:chExt cx="0" cy="0"/>
        </a:xfrm>
      </p:grpSpPr>
      <p:sp>
        <p:nvSpPr>
          <p:cNvPr id="400" name="Google Shape;400;p1"/>
          <p:cNvSpPr txBox="1">
            <a:spLocks noGrp="1"/>
          </p:cNvSpPr>
          <p:nvPr>
            <p:ph type="ctrTitle"/>
          </p:nvPr>
        </p:nvSpPr>
        <p:spPr>
          <a:xfrm>
            <a:off x="721578" y="634999"/>
            <a:ext cx="10286299" cy="558800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6000"/>
              <a:buFont typeface="Arial"/>
              <a:buNone/>
            </a:pPr>
            <a:r>
              <a:rPr lang="en-US" sz="6000" dirty="0"/>
              <a:t>E PROJECT:</a:t>
            </a:r>
            <a:br>
              <a:rPr lang="en-US" dirty="0"/>
            </a:br>
            <a:r>
              <a:rPr lang="en-US" sz="6600" dirty="0"/>
              <a:t>Alpine Ascents</a:t>
            </a:r>
            <a:br>
              <a:rPr lang="en-US" dirty="0"/>
            </a:br>
            <a:br>
              <a:rPr lang="en-US" dirty="0"/>
            </a:br>
            <a:r>
              <a:rPr lang="en-US" sz="6000" dirty="0"/>
              <a:t>DOCUMENTATION</a:t>
            </a:r>
            <a:br>
              <a:rPr lang="en-US" sz="6000" dirty="0"/>
            </a:br>
            <a:endParaRPr sz="6000" dirty="0"/>
          </a:p>
        </p:txBody>
      </p:sp>
      <p:sp>
        <p:nvSpPr>
          <p:cNvPr id="401" name="Google Shape;401;p1"/>
          <p:cNvSpPr txBox="1">
            <a:spLocks noGrp="1"/>
          </p:cNvSpPr>
          <p:nvPr>
            <p:ph type="subTitle" idx="1"/>
          </p:nvPr>
        </p:nvSpPr>
        <p:spPr>
          <a:xfrm>
            <a:off x="7977674" y="289767"/>
            <a:ext cx="3850878" cy="428691"/>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Clr>
                <a:schemeClr val="lt1"/>
              </a:buClr>
              <a:buSzPts val="2000"/>
              <a:buNone/>
            </a:pPr>
            <a:r>
              <a:rPr lang="en-US" dirty="0"/>
              <a:t>Presented by Alpine Ascents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500"/>
                                        <p:tgtEl>
                                          <p:spTgt spid="4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1">
                                            <p:txEl>
                                              <p:pRg st="0" end="0"/>
                                            </p:txEl>
                                          </p:spTgt>
                                        </p:tgtEl>
                                        <p:attrNameLst>
                                          <p:attrName>style.visibility</p:attrName>
                                        </p:attrNameLst>
                                      </p:cBhvr>
                                      <p:to>
                                        <p:strVal val="visible"/>
                                      </p:to>
                                    </p:set>
                                    <p:animEffect transition="in" filter="fade">
                                      <p:cBhvr>
                                        <p:cTn id="12" dur="2000"/>
                                        <p:tgtEl>
                                          <p:spTgt spid="4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05"/>
        <p:cNvGrpSpPr/>
        <p:nvPr/>
      </p:nvGrpSpPr>
      <p:grpSpPr>
        <a:xfrm>
          <a:off x="0" y="0"/>
          <a:ext cx="0" cy="0"/>
          <a:chOff x="0" y="0"/>
          <a:chExt cx="0" cy="0"/>
        </a:xfrm>
      </p:grpSpPr>
      <p:sp>
        <p:nvSpPr>
          <p:cNvPr id="406" name="Google Shape;406;p2"/>
          <p:cNvSpPr txBox="1">
            <a:spLocks noGrp="1"/>
          </p:cNvSpPr>
          <p:nvPr>
            <p:ph type="ctrTitle"/>
          </p:nvPr>
        </p:nvSpPr>
        <p:spPr>
          <a:xfrm>
            <a:off x="634028" y="-5563"/>
            <a:ext cx="11017745" cy="96645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4800"/>
              <a:buFont typeface="Arial"/>
              <a:buNone/>
            </a:pPr>
            <a:r>
              <a:rPr lang="en-US" sz="4800" dirty="0">
                <a:solidFill>
                  <a:srgbClr val="002060"/>
                </a:solidFill>
              </a:rPr>
              <a:t>PROJECT GROUP MEMBERS</a:t>
            </a:r>
            <a:r>
              <a:rPr lang="en-US" sz="4800" dirty="0"/>
              <a:t>:</a:t>
            </a:r>
            <a:endParaRPr dirty="0"/>
          </a:p>
        </p:txBody>
      </p:sp>
      <p:graphicFrame>
        <p:nvGraphicFramePr>
          <p:cNvPr id="407" name="Google Shape;407;p2"/>
          <p:cNvGraphicFramePr/>
          <p:nvPr>
            <p:extLst>
              <p:ext uri="{D42A27DB-BD31-4B8C-83A1-F6EECF244321}">
                <p14:modId xmlns:p14="http://schemas.microsoft.com/office/powerpoint/2010/main" val="3535679858"/>
              </p:ext>
            </p:extLst>
          </p:nvPr>
        </p:nvGraphicFramePr>
        <p:xfrm>
          <a:off x="1020792" y="1164567"/>
          <a:ext cx="9761975" cy="3937376"/>
        </p:xfrm>
        <a:graphic>
          <a:graphicData uri="http://schemas.openxmlformats.org/drawingml/2006/table">
            <a:tbl>
              <a:tblPr firstRow="1" bandRow="1">
                <a:noFill/>
                <a:tableStyleId>{C7164197-BE05-4FB5-B5FD-9A166A81565E}</a:tableStyleId>
              </a:tblPr>
              <a:tblGrid>
                <a:gridCol w="4894816">
                  <a:extLst>
                    <a:ext uri="{9D8B030D-6E8A-4147-A177-3AD203B41FA5}">
                      <a16:colId xmlns:a16="http://schemas.microsoft.com/office/drawing/2014/main" val="20000"/>
                    </a:ext>
                  </a:extLst>
                </a:gridCol>
                <a:gridCol w="4867159">
                  <a:extLst>
                    <a:ext uri="{9D8B030D-6E8A-4147-A177-3AD203B41FA5}">
                      <a16:colId xmlns:a16="http://schemas.microsoft.com/office/drawing/2014/main" val="20001"/>
                    </a:ext>
                  </a:extLst>
                </a:gridCol>
              </a:tblGrid>
              <a:tr h="690833">
                <a:tc>
                  <a:txBody>
                    <a:bodyPr/>
                    <a:lstStyle/>
                    <a:p>
                      <a:pPr marL="0" marR="0" lvl="0" indent="0" algn="ctr" rtl="0">
                        <a:lnSpc>
                          <a:spcPct val="100000"/>
                        </a:lnSpc>
                        <a:spcBef>
                          <a:spcPts val="0"/>
                        </a:spcBef>
                        <a:spcAft>
                          <a:spcPts val="0"/>
                        </a:spcAft>
                        <a:buClr>
                          <a:srgbClr val="1B1A12"/>
                        </a:buClr>
                        <a:buSzPts val="3800"/>
                        <a:buFont typeface="Times New Roman"/>
                        <a:buNone/>
                      </a:pPr>
                      <a:r>
                        <a:rPr lang="en-US" sz="3800" b="1" i="0" u="none" strike="noStrike" cap="none" dirty="0">
                          <a:solidFill>
                            <a:schemeClr val="tx1">
                              <a:lumMod val="95000"/>
                            </a:schemeClr>
                          </a:solidFill>
                          <a:latin typeface="Times New Roman"/>
                          <a:ea typeface="Times New Roman"/>
                          <a:cs typeface="Times New Roman"/>
                          <a:sym typeface="Times New Roman"/>
                        </a:rPr>
                        <a:t>Students Name</a:t>
                      </a:r>
                      <a:endParaRPr sz="1800" u="none" strike="noStrike" cap="none" dirty="0">
                        <a:solidFill>
                          <a:schemeClr val="tx1">
                            <a:lumMod val="95000"/>
                          </a:schemeClr>
                        </a:solidFill>
                      </a:endParaRPr>
                    </a:p>
                  </a:txBody>
                  <a:tcPr marL="91450" marR="91450" marT="45725" marB="45725"/>
                </a:tc>
                <a:tc>
                  <a:txBody>
                    <a:bodyPr/>
                    <a:lstStyle/>
                    <a:p>
                      <a:pPr marL="0" marR="0" lvl="0" indent="0" algn="ctr" rtl="0">
                        <a:spcBef>
                          <a:spcPts val="0"/>
                        </a:spcBef>
                        <a:spcAft>
                          <a:spcPts val="0"/>
                        </a:spcAft>
                        <a:buClr>
                          <a:srgbClr val="1B1A12"/>
                        </a:buClr>
                        <a:buSzPts val="4000"/>
                        <a:buFont typeface="Times New Roman"/>
                        <a:buNone/>
                      </a:pPr>
                      <a:r>
                        <a:rPr lang="en-US" sz="4000" b="1" i="0" u="none" strike="noStrike" cap="none" dirty="0">
                          <a:solidFill>
                            <a:schemeClr val="tx1">
                              <a:lumMod val="95000"/>
                            </a:schemeClr>
                          </a:solidFill>
                          <a:latin typeface="Times New Roman"/>
                          <a:ea typeface="Times New Roman"/>
                          <a:cs typeface="Times New Roman"/>
                          <a:sym typeface="Times New Roman"/>
                        </a:rPr>
                        <a:t>Students Id</a:t>
                      </a:r>
                      <a:endParaRPr sz="1800" u="none" strike="noStrike" cap="none" dirty="0">
                        <a:solidFill>
                          <a:schemeClr val="tx1">
                            <a:lumMod val="95000"/>
                          </a:schemeClr>
                        </a:solidFill>
                      </a:endParaRPr>
                    </a:p>
                  </a:txBody>
                  <a:tcPr marL="91450" marR="91450" marT="45725" marB="45725"/>
                </a:tc>
                <a:extLst>
                  <a:ext uri="{0D108BD9-81ED-4DB2-BD59-A6C34878D82A}">
                    <a16:rowId xmlns:a16="http://schemas.microsoft.com/office/drawing/2014/main" val="10000"/>
                  </a:ext>
                </a:extLst>
              </a:tr>
              <a:tr h="701791">
                <a:tc>
                  <a:txBody>
                    <a:bodyPr/>
                    <a:lstStyle/>
                    <a:p>
                      <a:pPr marL="0" marR="0" lvl="0" indent="0" algn="ctr" rtl="0">
                        <a:spcBef>
                          <a:spcPts val="0"/>
                        </a:spcBef>
                        <a:spcAft>
                          <a:spcPts val="0"/>
                        </a:spcAft>
                        <a:buClr>
                          <a:srgbClr val="324B4E"/>
                        </a:buClr>
                        <a:buSzPts val="2000"/>
                        <a:buFont typeface="Calibri"/>
                        <a:buNone/>
                      </a:pPr>
                      <a:r>
                        <a:rPr lang="en-US" sz="2400" b="1" i="1" u="none" strike="noStrike" cap="none" dirty="0">
                          <a:solidFill>
                            <a:schemeClr val="tx1">
                              <a:lumMod val="95000"/>
                            </a:schemeClr>
                          </a:solidFill>
                          <a:latin typeface="Calibri"/>
                          <a:ea typeface="Calibri"/>
                          <a:cs typeface="Calibri"/>
                          <a:sym typeface="Calibri"/>
                        </a:rPr>
                        <a:t>Burhan Mustafa</a:t>
                      </a:r>
                      <a:endParaRPr sz="2400" u="none" strike="noStrike" cap="none" dirty="0">
                        <a:solidFill>
                          <a:schemeClr val="tx1">
                            <a:lumMod val="95000"/>
                          </a:schemeClr>
                        </a:solidFill>
                      </a:endParaRPr>
                    </a:p>
                  </a:txBody>
                  <a:tcPr marL="91450" marR="91450" marT="45725" marB="45725"/>
                </a:tc>
                <a:tc>
                  <a:txBody>
                    <a:bodyPr/>
                    <a:lstStyle/>
                    <a:p>
                      <a:pPr marL="0" marR="0" lvl="0" indent="0" algn="ctr" rtl="0">
                        <a:lnSpc>
                          <a:spcPct val="100000"/>
                        </a:lnSpc>
                        <a:spcBef>
                          <a:spcPts val="0"/>
                        </a:spcBef>
                        <a:spcAft>
                          <a:spcPts val="0"/>
                        </a:spcAft>
                        <a:buClr>
                          <a:srgbClr val="324B4E"/>
                        </a:buClr>
                        <a:buSzPts val="2400"/>
                        <a:buFont typeface="Calibri"/>
                        <a:buNone/>
                      </a:pPr>
                      <a:r>
                        <a:rPr lang="en-US" sz="2400" b="1" i="1" u="none" strike="noStrike" cap="none" spc="0" dirty="0">
                          <a:solidFill>
                            <a:schemeClr val="tx1">
                              <a:lumMod val="95000"/>
                            </a:schemeClr>
                          </a:solidFill>
                          <a:latin typeface="Calibri"/>
                          <a:ea typeface="Aptos Light"/>
                          <a:cs typeface="Calibri"/>
                          <a:sym typeface="Arial"/>
                        </a:rPr>
                        <a:t>Student1729324</a:t>
                      </a:r>
                      <a:endParaRPr sz="2400" b="1" i="1" u="none" strike="noStrike" cap="none" spc="0" dirty="0">
                        <a:solidFill>
                          <a:schemeClr val="tx1">
                            <a:lumMod val="95000"/>
                          </a:schemeClr>
                        </a:solidFill>
                        <a:latin typeface="Calibri"/>
                        <a:cs typeface="Calibri"/>
                        <a:sym typeface="Arial"/>
                      </a:endParaRPr>
                    </a:p>
                  </a:txBody>
                  <a:tcPr marL="91450" marR="91450" marT="45725" marB="45725"/>
                </a:tc>
                <a:extLst>
                  <a:ext uri="{0D108BD9-81ED-4DB2-BD59-A6C34878D82A}">
                    <a16:rowId xmlns:a16="http://schemas.microsoft.com/office/drawing/2014/main" val="10001"/>
                  </a:ext>
                </a:extLst>
              </a:tr>
              <a:tr h="844845">
                <a:tc>
                  <a:txBody>
                    <a:bodyPr/>
                    <a:lstStyle/>
                    <a:p>
                      <a:pPr marL="0" marR="0" lvl="0" indent="0" algn="ctr" rtl="0">
                        <a:lnSpc>
                          <a:spcPct val="100000"/>
                        </a:lnSpc>
                        <a:spcBef>
                          <a:spcPts val="0"/>
                        </a:spcBef>
                        <a:spcAft>
                          <a:spcPts val="0"/>
                        </a:spcAft>
                        <a:buClr>
                          <a:srgbClr val="324B4E"/>
                        </a:buClr>
                        <a:buSzPts val="2000"/>
                        <a:buFont typeface="Calibri"/>
                        <a:buNone/>
                      </a:pPr>
                      <a:r>
                        <a:rPr lang="en-US" sz="2400" b="1" i="1" u="none" strike="noStrike" kern="1200" cap="none" dirty="0">
                          <a:solidFill>
                            <a:schemeClr val="tx1">
                              <a:lumMod val="95000"/>
                            </a:schemeClr>
                          </a:solidFill>
                          <a:latin typeface="Calibri"/>
                          <a:cs typeface="Calibri"/>
                        </a:rPr>
                        <a:t>Abdullah Memon</a:t>
                      </a:r>
                      <a:endParaRPr sz="2400" b="1" i="1" u="none" strike="noStrike" kern="1200" cap="none" dirty="0">
                        <a:solidFill>
                          <a:schemeClr val="tx1">
                            <a:lumMod val="95000"/>
                          </a:schemeClr>
                        </a:solidFill>
                        <a:latin typeface="Calibri"/>
                        <a:cs typeface="Calibri"/>
                      </a:endParaRPr>
                    </a:p>
                  </a:txBody>
                  <a:tcPr marL="91450" marR="91450" marT="45725" marB="45725"/>
                </a:tc>
                <a:tc>
                  <a:txBody>
                    <a:bodyPr/>
                    <a:lstStyle/>
                    <a:p>
                      <a:pPr marL="0" marR="0" lvl="0" indent="0" algn="ctr" rtl="0">
                        <a:lnSpc>
                          <a:spcPct val="100000"/>
                        </a:lnSpc>
                        <a:spcBef>
                          <a:spcPts val="0"/>
                        </a:spcBef>
                        <a:spcAft>
                          <a:spcPts val="0"/>
                        </a:spcAft>
                        <a:buClr>
                          <a:srgbClr val="324B4E"/>
                        </a:buClr>
                        <a:buSzPts val="2400"/>
                        <a:buFont typeface="Calibri"/>
                        <a:buNone/>
                      </a:pPr>
                      <a:endParaRPr sz="2400" b="0" i="0" u="none" strike="noStrike" cap="none" dirty="0">
                        <a:solidFill>
                          <a:schemeClr val="tx1">
                            <a:lumMod val="95000"/>
                          </a:schemeClr>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2"/>
                  </a:ext>
                </a:extLst>
              </a:tr>
              <a:tr h="844845">
                <a:tc>
                  <a:txBody>
                    <a:bodyPr/>
                    <a:lstStyle/>
                    <a:p>
                      <a:pPr marL="0" marR="0" lvl="0" indent="0" algn="ctr" rtl="0">
                        <a:lnSpc>
                          <a:spcPct val="100000"/>
                        </a:lnSpc>
                        <a:spcBef>
                          <a:spcPts val="0"/>
                        </a:spcBef>
                        <a:spcAft>
                          <a:spcPts val="0"/>
                        </a:spcAft>
                        <a:buClr>
                          <a:srgbClr val="324B4E"/>
                        </a:buClr>
                        <a:buSzPts val="2000"/>
                        <a:buFont typeface="Calibri"/>
                        <a:buNone/>
                      </a:pPr>
                      <a:r>
                        <a:rPr lang="en-US" sz="2400" b="1" i="1" u="none" strike="noStrike" kern="1200" cap="none" dirty="0">
                          <a:solidFill>
                            <a:schemeClr val="tx1">
                              <a:lumMod val="95000"/>
                            </a:schemeClr>
                          </a:solidFill>
                          <a:latin typeface="Calibri"/>
                          <a:cs typeface="Calibri"/>
                        </a:rPr>
                        <a:t>M. Moiz</a:t>
                      </a:r>
                      <a:endParaRPr sz="2400" b="1" i="1" u="none" strike="noStrike" kern="1200" cap="none" dirty="0">
                        <a:solidFill>
                          <a:schemeClr val="tx1">
                            <a:lumMod val="95000"/>
                          </a:schemeClr>
                        </a:solidFill>
                        <a:latin typeface="Calibri"/>
                        <a:cs typeface="Calibri"/>
                      </a:endParaRPr>
                    </a:p>
                  </a:txBody>
                  <a:tcPr marL="91450" marR="91450" marT="45725" marB="45725"/>
                </a:tc>
                <a:tc>
                  <a:txBody>
                    <a:bodyPr/>
                    <a:lstStyle/>
                    <a:p>
                      <a:pPr marL="0" marR="0" lvl="0" indent="0" algn="ctr" rtl="0">
                        <a:lnSpc>
                          <a:spcPct val="100000"/>
                        </a:lnSpc>
                        <a:spcBef>
                          <a:spcPts val="0"/>
                        </a:spcBef>
                        <a:spcAft>
                          <a:spcPts val="0"/>
                        </a:spcAft>
                        <a:buClr>
                          <a:srgbClr val="324B4E"/>
                        </a:buClr>
                        <a:buSzPts val="2400"/>
                        <a:buFont typeface="Calibri"/>
                        <a:buNone/>
                      </a:pPr>
                      <a:endParaRPr sz="2400" b="0" i="0" u="none" strike="noStrike" cap="none" dirty="0">
                        <a:solidFill>
                          <a:schemeClr val="tx1">
                            <a:lumMod val="95000"/>
                          </a:schemeClr>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447827502"/>
                  </a:ext>
                </a:extLst>
              </a:tr>
              <a:tr h="844845">
                <a:tc>
                  <a:txBody>
                    <a:bodyPr/>
                    <a:lstStyle/>
                    <a:p>
                      <a:pPr marL="0" marR="0" lvl="0" indent="0" algn="ctr" rtl="0">
                        <a:lnSpc>
                          <a:spcPct val="100000"/>
                        </a:lnSpc>
                        <a:spcBef>
                          <a:spcPts val="0"/>
                        </a:spcBef>
                        <a:spcAft>
                          <a:spcPts val="0"/>
                        </a:spcAft>
                        <a:buClr>
                          <a:srgbClr val="324B4E"/>
                        </a:buClr>
                        <a:buSzPts val="2000"/>
                        <a:buFont typeface="Calibri"/>
                        <a:buNone/>
                      </a:pPr>
                      <a:endParaRPr dirty="0">
                        <a:solidFill>
                          <a:schemeClr val="tx1">
                            <a:lumMod val="95000"/>
                          </a:schemeClr>
                        </a:solidFill>
                      </a:endParaRPr>
                    </a:p>
                  </a:txBody>
                  <a:tcPr marL="91450" marR="91450" marT="45725" marB="45725"/>
                </a:tc>
                <a:tc>
                  <a:txBody>
                    <a:bodyPr/>
                    <a:lstStyle/>
                    <a:p>
                      <a:pPr marL="0" marR="0" lvl="0" indent="0" algn="ctr" rtl="0">
                        <a:lnSpc>
                          <a:spcPct val="100000"/>
                        </a:lnSpc>
                        <a:spcBef>
                          <a:spcPts val="0"/>
                        </a:spcBef>
                        <a:spcAft>
                          <a:spcPts val="0"/>
                        </a:spcAft>
                        <a:buClr>
                          <a:srgbClr val="324B4E"/>
                        </a:buClr>
                        <a:buSzPts val="2400"/>
                        <a:buFont typeface="Calibri"/>
                        <a:buNone/>
                      </a:pPr>
                      <a:endParaRPr sz="2400" b="0" i="0" u="none" strike="noStrike" cap="none" dirty="0">
                        <a:solidFill>
                          <a:schemeClr val="tx1">
                            <a:lumMod val="95000"/>
                          </a:schemeClr>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173247641"/>
                  </a:ext>
                </a:extLst>
              </a:tr>
            </a:tbl>
          </a:graphicData>
        </a:graphic>
      </p:graphicFrame>
      <p:sp>
        <p:nvSpPr>
          <p:cNvPr id="408" name="Google Shape;408;p2"/>
          <p:cNvSpPr txBox="1"/>
          <p:nvPr/>
        </p:nvSpPr>
        <p:spPr>
          <a:xfrm>
            <a:off x="640990" y="5254625"/>
            <a:ext cx="11012755"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0" i="0" u="sng" strike="noStrike" cap="none" dirty="0">
                <a:solidFill>
                  <a:srgbClr val="002060"/>
                </a:solidFill>
                <a:latin typeface="Arial"/>
                <a:ea typeface="Arial"/>
                <a:cs typeface="Arial"/>
                <a:sym typeface="Arial"/>
              </a:rPr>
              <a:t>FACULY NAME</a:t>
            </a:r>
            <a:r>
              <a:rPr lang="en-US" sz="4800" b="0" i="0" u="sng" strike="noStrike" cap="none" dirty="0">
                <a:solidFill>
                  <a:srgbClr val="002060"/>
                </a:solidFill>
                <a:latin typeface="Arial"/>
                <a:ea typeface="Arial"/>
                <a:cs typeface="Arial"/>
                <a:sym typeface="Arial"/>
              </a:rPr>
              <a:t>:</a:t>
            </a:r>
            <a:r>
              <a:rPr lang="en-US" sz="3600" b="0" i="0" u="none" strike="noStrike" cap="none" dirty="0">
                <a:solidFill>
                  <a:srgbClr val="002060"/>
                </a:solidFill>
                <a:latin typeface="Arial"/>
                <a:ea typeface="Arial"/>
                <a:cs typeface="Arial"/>
                <a:sym typeface="Arial"/>
              </a:rPr>
              <a:t> </a:t>
            </a:r>
            <a:r>
              <a:rPr lang="en-US" sz="1800" b="0" i="0" u="none" strike="noStrike" cap="none" dirty="0">
                <a:solidFill>
                  <a:srgbClr val="002060"/>
                </a:solidFill>
                <a:latin typeface="Arial"/>
                <a:ea typeface="Arial"/>
                <a:cs typeface="Arial"/>
                <a:sym typeface="Arial"/>
              </a:rPr>
              <a:t> </a:t>
            </a:r>
            <a:r>
              <a:rPr lang="en-US" sz="4800" b="1" i="0" u="sng" strike="noStrike" cap="none" dirty="0">
                <a:solidFill>
                  <a:srgbClr val="002060"/>
                </a:solidFill>
                <a:latin typeface="Arial"/>
                <a:ea typeface="Arial"/>
                <a:cs typeface="Arial"/>
                <a:sym typeface="Arial"/>
              </a:rPr>
              <a:t>SIR.MAAZ RAHIM</a:t>
            </a:r>
            <a:endParaRPr sz="3600" b="1" cap="none" dirty="0">
              <a:solidFill>
                <a:srgbClr val="002060"/>
              </a:solidFill>
              <a:latin typeface="Arial"/>
              <a:ea typeface="Arial"/>
              <a:cs typeface="Arial"/>
              <a:sym typeface="Arial"/>
            </a:endParaRPr>
          </a:p>
          <a:p>
            <a:pPr lvl="0"/>
            <a:r>
              <a:rPr lang="en-US" sz="4400" u="sng" cap="none" dirty="0">
                <a:solidFill>
                  <a:srgbClr val="002060"/>
                </a:solidFill>
                <a:latin typeface="Arial"/>
                <a:ea typeface="Arial"/>
                <a:cs typeface="Arial"/>
                <a:sym typeface="Arial"/>
              </a:rPr>
              <a:t>CO-ORDINATOR NAME</a:t>
            </a:r>
            <a:r>
              <a:rPr lang="en-US" sz="4800" u="sng" cap="none" dirty="0">
                <a:solidFill>
                  <a:srgbClr val="002060"/>
                </a:solidFill>
                <a:latin typeface="Arial"/>
                <a:ea typeface="Arial"/>
                <a:cs typeface="Arial"/>
                <a:sym typeface="Arial"/>
              </a:rPr>
              <a:t>: </a:t>
            </a:r>
            <a:r>
              <a:rPr lang="en-US" sz="4800" b="1" u="sng" dirty="0">
                <a:solidFill>
                  <a:srgbClr val="002060"/>
                </a:solidFill>
              </a:rPr>
              <a:t>Ashna Nasir</a:t>
            </a:r>
            <a:endParaRPr sz="4800" b="1" u="sng" dirty="0">
              <a:solidFill>
                <a:srgbClr val="002060"/>
              </a:solidFill>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animEffect transition="in" filter="fade">
                                      <p:cBhvr>
                                        <p:cTn id="7" dur="2000"/>
                                        <p:tgtEl>
                                          <p:spTgt spid="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12"/>
        <p:cNvGrpSpPr/>
        <p:nvPr/>
      </p:nvGrpSpPr>
      <p:grpSpPr>
        <a:xfrm>
          <a:off x="0" y="0"/>
          <a:ext cx="0" cy="0"/>
          <a:chOff x="0" y="0"/>
          <a:chExt cx="0" cy="0"/>
        </a:xfrm>
      </p:grpSpPr>
      <p:sp>
        <p:nvSpPr>
          <p:cNvPr id="413" name="Google Shape;413;p3"/>
          <p:cNvSpPr txBox="1">
            <a:spLocks noGrp="1"/>
          </p:cNvSpPr>
          <p:nvPr>
            <p:ph type="ctrTitle"/>
          </p:nvPr>
        </p:nvSpPr>
        <p:spPr>
          <a:xfrm>
            <a:off x="0" y="299818"/>
            <a:ext cx="12192000" cy="101527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Arial"/>
              <a:buNone/>
            </a:pPr>
            <a:r>
              <a:rPr lang="en-US" dirty="0">
                <a:solidFill>
                  <a:srgbClr val="002060"/>
                </a:solidFill>
              </a:rPr>
              <a:t>CERTIFICATE:</a:t>
            </a:r>
            <a:endParaRPr dirty="0">
              <a:solidFill>
                <a:srgbClr val="002060"/>
              </a:solidFill>
            </a:endParaRPr>
          </a:p>
        </p:txBody>
      </p:sp>
      <p:sp>
        <p:nvSpPr>
          <p:cNvPr id="414" name="Google Shape;414;p3"/>
          <p:cNvSpPr/>
          <p:nvPr/>
        </p:nvSpPr>
        <p:spPr>
          <a:xfrm>
            <a:off x="801384" y="1874728"/>
            <a:ext cx="10027578" cy="3416320"/>
          </a:xfrm>
          <a:prstGeom prst="rect">
            <a:avLst/>
          </a:prstGeom>
          <a:noFill/>
          <a:ln>
            <a:noFill/>
          </a:ln>
        </p:spPr>
        <p:txBody>
          <a:bodyPr spcFirstLastPara="1" wrap="square" lIns="91425" tIns="45700" rIns="91425" bIns="45700" anchor="t" anchorCtr="0">
            <a:spAutoFit/>
          </a:bodyPr>
          <a:lstStyle/>
          <a:p>
            <a:pPr marL="0" marR="0" lvl="0" indent="342900" algn="ctr" rtl="0">
              <a:spcBef>
                <a:spcPts val="0"/>
              </a:spcBef>
              <a:spcAft>
                <a:spcPts val="0"/>
              </a:spcAft>
              <a:buNone/>
            </a:pPr>
            <a:r>
              <a:rPr lang="en-US" sz="3600" dirty="0">
                <a:latin typeface="Arial"/>
                <a:ea typeface="Arial"/>
                <a:cs typeface="Arial"/>
                <a:sym typeface="Arial"/>
              </a:rPr>
              <a:t>This is to certify that the dissertation entitled</a:t>
            </a:r>
            <a:br>
              <a:rPr lang="en-US" sz="3600" dirty="0">
                <a:latin typeface="Arial"/>
                <a:ea typeface="Arial"/>
                <a:cs typeface="Arial"/>
                <a:sym typeface="Arial"/>
              </a:rPr>
            </a:br>
            <a:r>
              <a:rPr lang="en-US" sz="3600" b="1" dirty="0">
                <a:latin typeface="Arial"/>
                <a:ea typeface="Arial"/>
                <a:cs typeface="Arial"/>
                <a:sym typeface="Arial"/>
              </a:rPr>
              <a:t>“</a:t>
            </a:r>
            <a:r>
              <a:rPr lang="en-US" sz="3600" b="1" dirty="0"/>
              <a:t>Alpine Ascents</a:t>
            </a:r>
            <a:r>
              <a:rPr lang="en-US" sz="3600" b="1" dirty="0">
                <a:latin typeface="Arial"/>
                <a:ea typeface="Arial"/>
                <a:cs typeface="Arial"/>
                <a:sym typeface="Arial"/>
              </a:rPr>
              <a:t>”</a:t>
            </a:r>
            <a:br>
              <a:rPr lang="en-US" sz="3600" dirty="0">
                <a:latin typeface="Arial"/>
                <a:ea typeface="Arial"/>
                <a:cs typeface="Arial"/>
                <a:sym typeface="Arial"/>
              </a:rPr>
            </a:br>
            <a:r>
              <a:rPr lang="en-US" sz="3600" dirty="0">
                <a:latin typeface="Arial"/>
                <a:ea typeface="Arial"/>
                <a:cs typeface="Arial"/>
                <a:sym typeface="Arial"/>
              </a:rPr>
              <a:t>has been successfully carried out by</a:t>
            </a:r>
            <a:br>
              <a:rPr lang="en-US" sz="3600" dirty="0">
                <a:latin typeface="Arial"/>
                <a:ea typeface="Arial"/>
                <a:cs typeface="Arial"/>
                <a:sym typeface="Arial"/>
              </a:rPr>
            </a:br>
            <a:r>
              <a:rPr lang="en-US" sz="3600" b="1" dirty="0"/>
              <a:t>Alpine-Ascents</a:t>
            </a:r>
            <a:r>
              <a:rPr lang="en-US" sz="3600" b="1" dirty="0">
                <a:latin typeface="Arial"/>
                <a:ea typeface="Arial"/>
                <a:cs typeface="Arial"/>
                <a:sym typeface="Arial"/>
              </a:rPr>
              <a:t>-Group</a:t>
            </a:r>
            <a:br>
              <a:rPr lang="en-US" sz="3600" dirty="0">
                <a:latin typeface="Arial"/>
                <a:ea typeface="Arial"/>
                <a:cs typeface="Arial"/>
                <a:sym typeface="Arial"/>
              </a:rPr>
            </a:br>
            <a:r>
              <a:rPr lang="en-US" sz="3600" dirty="0">
                <a:latin typeface="Arial"/>
                <a:ea typeface="Arial"/>
                <a:cs typeface="Arial"/>
                <a:sym typeface="Arial"/>
              </a:rPr>
              <a:t>in partial fulfilment of the requirements for the award of the </a:t>
            </a:r>
            <a:r>
              <a:rPr lang="en-US" sz="3600" b="1" dirty="0">
                <a:latin typeface="Arial"/>
                <a:ea typeface="Arial"/>
                <a:cs typeface="Arial"/>
                <a:sym typeface="Arial"/>
              </a:rPr>
              <a:t>Aptech Computer Certification</a:t>
            </a:r>
            <a:r>
              <a:rPr lang="en-US" sz="3600" dirty="0">
                <a:solidFill>
                  <a:schemeClr val="dk1"/>
                </a:solidFill>
                <a:latin typeface="Arial"/>
                <a:ea typeface="Arial"/>
                <a:cs typeface="Arial"/>
                <a:sym typeface="Arial"/>
              </a:rPr>
              <a:t>.</a:t>
            </a:r>
            <a:endParaRPr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18"/>
        <p:cNvGrpSpPr/>
        <p:nvPr/>
      </p:nvGrpSpPr>
      <p:grpSpPr>
        <a:xfrm>
          <a:off x="0" y="0"/>
          <a:ext cx="0" cy="0"/>
          <a:chOff x="0" y="0"/>
          <a:chExt cx="0" cy="0"/>
        </a:xfrm>
      </p:grpSpPr>
      <p:sp>
        <p:nvSpPr>
          <p:cNvPr id="419" name="Google Shape;419;p4"/>
          <p:cNvSpPr txBox="1">
            <a:spLocks noGrp="1"/>
          </p:cNvSpPr>
          <p:nvPr>
            <p:ph type="ctrTitle"/>
          </p:nvPr>
        </p:nvSpPr>
        <p:spPr>
          <a:xfrm>
            <a:off x="0" y="299818"/>
            <a:ext cx="12192000" cy="101527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Arial"/>
              <a:buNone/>
            </a:pPr>
            <a:r>
              <a:rPr lang="en-US" dirty="0">
                <a:solidFill>
                  <a:srgbClr val="002060"/>
                </a:solidFill>
              </a:rPr>
              <a:t>ACKNOWLEDGEMENT:</a:t>
            </a:r>
            <a:endParaRPr dirty="0">
              <a:solidFill>
                <a:srgbClr val="002060"/>
              </a:solidFill>
            </a:endParaRPr>
          </a:p>
        </p:txBody>
      </p:sp>
      <p:sp>
        <p:nvSpPr>
          <p:cNvPr id="420" name="Google Shape;420;p4"/>
          <p:cNvSpPr/>
          <p:nvPr/>
        </p:nvSpPr>
        <p:spPr>
          <a:xfrm>
            <a:off x="0" y="1498808"/>
            <a:ext cx="12192000" cy="52629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latin typeface="Arial"/>
                <a:ea typeface="Arial"/>
                <a:cs typeface="Arial"/>
                <a:sym typeface="Arial"/>
              </a:rPr>
              <a:t>The successful completion of this project, </a:t>
            </a:r>
            <a:r>
              <a:rPr lang="en-US" sz="2400" b="1" dirty="0">
                <a:latin typeface="Arial"/>
                <a:ea typeface="Arial"/>
                <a:cs typeface="Arial"/>
                <a:sym typeface="Arial"/>
              </a:rPr>
              <a:t>“</a:t>
            </a:r>
            <a:r>
              <a:rPr lang="en-US" sz="2400" b="1" dirty="0"/>
              <a:t>ALPINE ASCENTS</a:t>
            </a:r>
            <a:r>
              <a:rPr lang="en-US" sz="2400" b="1" dirty="0">
                <a:latin typeface="Arial"/>
                <a:ea typeface="Arial"/>
                <a:cs typeface="Arial"/>
                <a:sym typeface="Arial"/>
              </a:rPr>
              <a:t>”</a:t>
            </a:r>
            <a:r>
              <a:rPr lang="en-US" sz="2400" dirty="0">
                <a:latin typeface="Arial"/>
                <a:ea typeface="Arial"/>
                <a:cs typeface="Arial"/>
                <a:sym typeface="Arial"/>
              </a:rPr>
              <a:t>, would not have been possible without the guidance, encouragement, and support of many individuals.</a:t>
            </a:r>
            <a:endParaRPr dirty="0"/>
          </a:p>
          <a:p>
            <a:pPr marL="0" marR="0" lvl="0" indent="0" algn="l" rtl="0">
              <a:spcBef>
                <a:spcPts val="0"/>
              </a:spcBef>
              <a:spcAft>
                <a:spcPts val="0"/>
              </a:spcAft>
              <a:buNone/>
            </a:pPr>
            <a:r>
              <a:rPr lang="en-US" sz="2400" dirty="0">
                <a:latin typeface="Arial"/>
                <a:ea typeface="Arial"/>
                <a:cs typeface="Arial"/>
                <a:sym typeface="Arial"/>
              </a:rPr>
              <a:t>I express my sincere gratitude to </a:t>
            </a:r>
            <a:r>
              <a:rPr lang="en-US" sz="2400" b="1" dirty="0">
                <a:latin typeface="Arial"/>
                <a:ea typeface="Arial"/>
                <a:cs typeface="Arial"/>
                <a:sym typeface="Arial"/>
              </a:rPr>
              <a:t>Aptech Institute</a:t>
            </a:r>
            <a:r>
              <a:rPr lang="en-US" sz="2400" dirty="0">
                <a:latin typeface="Arial"/>
                <a:ea typeface="Arial"/>
                <a:cs typeface="Arial"/>
                <a:sym typeface="Arial"/>
              </a:rPr>
              <a:t> for giving me the opportunity to work on this project and for providing constant support and resources throughout the process. Their vision of enhancing education through technology inspired me to practically implement the concepts learned.</a:t>
            </a:r>
            <a:endParaRPr dirty="0"/>
          </a:p>
          <a:p>
            <a:pPr marL="0" marR="0" lvl="0" indent="0" algn="l" rtl="0">
              <a:spcBef>
                <a:spcPts val="0"/>
              </a:spcBef>
              <a:spcAft>
                <a:spcPts val="0"/>
              </a:spcAft>
              <a:buNone/>
            </a:pPr>
            <a:r>
              <a:rPr lang="en-US" sz="2400" dirty="0">
                <a:latin typeface="Arial"/>
                <a:ea typeface="Arial"/>
                <a:cs typeface="Arial"/>
                <a:sym typeface="Arial"/>
              </a:rPr>
              <a:t>I would like to extend my deepest appreciation to my project guide, whose expert guidance, insightful feedback, and constant motivation helped me complete this project successfully. Their valuable suggestions played a crucial role in shaping the project into its present form.</a:t>
            </a:r>
            <a:endParaRPr dirty="0"/>
          </a:p>
          <a:p>
            <a:pPr marL="0" marR="0" lvl="0" indent="0" algn="l" rtl="0">
              <a:spcBef>
                <a:spcPts val="0"/>
              </a:spcBef>
              <a:spcAft>
                <a:spcPts val="0"/>
              </a:spcAft>
              <a:buNone/>
            </a:pPr>
            <a:r>
              <a:rPr lang="en-US" sz="2400" dirty="0">
                <a:latin typeface="Arial"/>
                <a:ea typeface="Arial"/>
                <a:cs typeface="Arial"/>
                <a:sym typeface="Arial"/>
              </a:rPr>
              <a:t>I also acknowledge the support of my colleagues, friends, and family who encouraged me during the course of this project and provided helpful suggestions whenever needed.</a:t>
            </a:r>
            <a:endParaRPr dirty="0"/>
          </a:p>
          <a:p>
            <a:pPr marL="0" marR="0" lvl="0" indent="0" algn="l" rtl="0">
              <a:spcBef>
                <a:spcPts val="0"/>
              </a:spcBef>
              <a:spcAft>
                <a:spcPts val="0"/>
              </a:spcAft>
              <a:buNone/>
            </a:pPr>
            <a:r>
              <a:rPr lang="en-US" sz="2400" dirty="0">
                <a:latin typeface="Arial"/>
                <a:ea typeface="Arial"/>
                <a:cs typeface="Arial"/>
                <a:sym typeface="Arial"/>
              </a:rPr>
              <a:t>Finally, I owe my gratitude to all those who directly or indirectly contributed to the successful completion of this project.</a:t>
            </a:r>
            <a:endParaRPr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24"/>
        <p:cNvGrpSpPr/>
        <p:nvPr/>
      </p:nvGrpSpPr>
      <p:grpSpPr>
        <a:xfrm>
          <a:off x="0" y="0"/>
          <a:ext cx="0" cy="0"/>
          <a:chOff x="0" y="0"/>
          <a:chExt cx="0" cy="0"/>
        </a:xfrm>
      </p:grpSpPr>
      <p:sp>
        <p:nvSpPr>
          <p:cNvPr id="425" name="Google Shape;425;p5"/>
          <p:cNvSpPr txBox="1">
            <a:spLocks noGrp="1"/>
          </p:cNvSpPr>
          <p:nvPr>
            <p:ph type="ctrTitle"/>
          </p:nvPr>
        </p:nvSpPr>
        <p:spPr>
          <a:xfrm>
            <a:off x="0" y="155980"/>
            <a:ext cx="12192000" cy="101527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Arial"/>
              <a:buNone/>
            </a:pPr>
            <a:r>
              <a:rPr lang="en-US" dirty="0">
                <a:solidFill>
                  <a:srgbClr val="002060"/>
                </a:solidFill>
              </a:rPr>
              <a:t>ABSTRACT:</a:t>
            </a:r>
            <a:endParaRPr dirty="0">
              <a:solidFill>
                <a:srgbClr val="002060"/>
              </a:solidFill>
            </a:endParaRPr>
          </a:p>
        </p:txBody>
      </p:sp>
      <p:sp>
        <p:nvSpPr>
          <p:cNvPr id="426" name="Google Shape;426;p5"/>
          <p:cNvSpPr/>
          <p:nvPr/>
        </p:nvSpPr>
        <p:spPr>
          <a:xfrm>
            <a:off x="0" y="1533465"/>
            <a:ext cx="12192000" cy="5262939"/>
          </a:xfrm>
          <a:prstGeom prst="rect">
            <a:avLst/>
          </a:prstGeom>
          <a:noFill/>
          <a:ln>
            <a:noFill/>
          </a:ln>
        </p:spPr>
        <p:txBody>
          <a:bodyPr spcFirstLastPara="1" wrap="square" lIns="91425" tIns="45700" rIns="91425" bIns="45700" anchor="t" anchorCtr="0">
            <a:spAutoFit/>
          </a:bodyPr>
          <a:lstStyle/>
          <a:p>
            <a:pPr lvl="0" algn="ctr"/>
            <a:r>
              <a:rPr lang="en-US" sz="2400" b="1" dirty="0"/>
              <a:t>Alpine Ascents International </a:t>
            </a:r>
            <a:r>
              <a:rPr lang="en-US" sz="2400" dirty="0"/>
              <a:t>is a premier </a:t>
            </a:r>
            <a:r>
              <a:rPr lang="en-US" sz="2400" i="1" dirty="0"/>
              <a:t>mountaineering and adventure guiding </a:t>
            </a:r>
            <a:r>
              <a:rPr lang="en-US" sz="2400" dirty="0"/>
              <a:t>company recognized globally for leading expeditions to the world's most iconic peaks, including </a:t>
            </a:r>
            <a:r>
              <a:rPr lang="en-US" sz="2400" b="1" dirty="0"/>
              <a:t>Mount Everest, Mount Rainier, and Aconcagua</a:t>
            </a:r>
            <a:r>
              <a:rPr lang="en-US" sz="2400" dirty="0"/>
              <a:t>.</a:t>
            </a:r>
          </a:p>
          <a:p>
            <a:pPr lvl="0" algn="ctr"/>
            <a:r>
              <a:rPr lang="en-US" sz="2400" dirty="0"/>
              <a:t> Founded on a philosophy of rigorous safety, comprehensive preparation, and environmental stewardship, the organization sets the industry standard by employing some of the most elite, certified mountain guides in the field.</a:t>
            </a:r>
          </a:p>
          <a:p>
            <a:pPr lvl="0" algn="ctr"/>
            <a:r>
              <a:rPr lang="en-US" sz="2400" dirty="0"/>
              <a:t> Beyond simply reaching summits, </a:t>
            </a:r>
            <a:r>
              <a:rPr lang="en-US" sz="2400" b="1" dirty="0"/>
              <a:t>Alpine Ascents </a:t>
            </a:r>
            <a:r>
              <a:rPr lang="en-US" sz="2400" dirty="0"/>
              <a:t>is renowned for its thorough mountaineering schools and training courses that equip climbers with the technical skills, physical conditioning, and mental resilience required to navigate extreme high-altitude environments safely.</a:t>
            </a:r>
          </a:p>
          <a:p>
            <a:pPr lvl="0" algn="ctr"/>
            <a:r>
              <a:rPr lang="en-US" sz="2400" dirty="0"/>
              <a:t> By balancing bold expeditions with a deep commitment to sustainable travel and local mountain communities, the company has built a legacy of transforming passionate outdoor enthusiasts into capable, </a:t>
            </a:r>
            <a:r>
              <a:rPr lang="en-US" sz="2400" u="sng" dirty="0"/>
              <a:t>self-reliant mountaineers</a:t>
            </a:r>
            <a:r>
              <a:rPr lang="en-US" sz="2400" dirty="0"/>
              <a:t> who respect the power and fragility of the natural world</a:t>
            </a:r>
            <a:r>
              <a:rPr lang="en-US" sz="2400" dirty="0">
                <a:solidFill>
                  <a:schemeClr val="dk1"/>
                </a:solidFill>
              </a:rPr>
              <a:t>.</a:t>
            </a:r>
            <a:endParaRPr sz="2400" dirty="0">
              <a:solidFill>
                <a:schemeClr val="dk1"/>
              </a:solidFill>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49"/>
        <p:cNvGrpSpPr/>
        <p:nvPr/>
      </p:nvGrpSpPr>
      <p:grpSpPr>
        <a:xfrm>
          <a:off x="0" y="0"/>
          <a:ext cx="0" cy="0"/>
          <a:chOff x="0" y="0"/>
          <a:chExt cx="0" cy="0"/>
        </a:xfrm>
      </p:grpSpPr>
      <p:sp>
        <p:nvSpPr>
          <p:cNvPr id="450" name="Google Shape;450;p9"/>
          <p:cNvSpPr txBox="1">
            <a:spLocks noGrp="1"/>
          </p:cNvSpPr>
          <p:nvPr>
            <p:ph type="ctrTitle"/>
          </p:nvPr>
        </p:nvSpPr>
        <p:spPr>
          <a:xfrm>
            <a:off x="0" y="268995"/>
            <a:ext cx="12192000" cy="85088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Arial"/>
              <a:buNone/>
            </a:pPr>
            <a:r>
              <a:rPr lang="en-US" sz="4800" dirty="0">
                <a:solidFill>
                  <a:srgbClr val="002060"/>
                </a:solidFill>
                <a:effectLst>
                  <a:outerShdw blurRad="38100" dist="38100" dir="2700000" algn="tl">
                    <a:srgbClr val="000000">
                      <a:alpha val="43137"/>
                    </a:srgbClr>
                  </a:outerShdw>
                </a:effectLst>
                <a:latin typeface="Arial"/>
                <a:ea typeface="Arial"/>
                <a:cs typeface="Arial"/>
                <a:sym typeface="Arial"/>
              </a:rPr>
              <a:t>PROBLEM STATEMENT:</a:t>
            </a:r>
            <a:endParaRPr sz="4800" dirty="0">
              <a:solidFill>
                <a:srgbClr val="002060"/>
              </a:solidFill>
              <a:effectLst>
                <a:outerShdw blurRad="38100" dist="38100" dir="2700000" algn="tl">
                  <a:srgbClr val="000000">
                    <a:alpha val="43137"/>
                  </a:srgbClr>
                </a:outerShdw>
              </a:effectLst>
              <a:latin typeface="Arial"/>
              <a:ea typeface="Arial"/>
              <a:cs typeface="Arial"/>
              <a:sym typeface="Arial"/>
            </a:endParaRPr>
          </a:p>
        </p:txBody>
      </p:sp>
      <p:sp>
        <p:nvSpPr>
          <p:cNvPr id="451" name="Google Shape;451;p9"/>
          <p:cNvSpPr/>
          <p:nvPr/>
        </p:nvSpPr>
        <p:spPr>
          <a:xfrm>
            <a:off x="368157" y="1259654"/>
            <a:ext cx="11455685" cy="4524275"/>
          </a:xfrm>
          <a:prstGeom prst="rect">
            <a:avLst/>
          </a:prstGeom>
          <a:noFill/>
          <a:ln>
            <a:noFill/>
          </a:ln>
        </p:spPr>
        <p:txBody>
          <a:bodyPr spcFirstLastPara="1" wrap="square" lIns="91425" tIns="45700" rIns="91425" bIns="45700" anchor="t" anchorCtr="0">
            <a:spAutoFit/>
          </a:bodyPr>
          <a:lstStyle/>
          <a:p>
            <a:pPr lvl="0" algn="just"/>
            <a:r>
              <a:rPr lang="en-US" sz="1800" dirty="0"/>
              <a:t>Many aspiring mountaineers and outdoor enthusiasts are drawn to the thrill of high-altitude climbing through romanticized media, often underestimating the severe physiological risks, sudden weather shifts, and technical complexities involved.</a:t>
            </a:r>
          </a:p>
          <a:p>
            <a:pPr lvl="0" algn="just"/>
            <a:endParaRPr lang="en-US" sz="1800" dirty="0"/>
          </a:p>
          <a:p>
            <a:pPr lvl="0" algn="just"/>
            <a:r>
              <a:rPr lang="en-US" sz="1800" dirty="0"/>
              <a:t>Without an accessible, interactive, and educational platform that openly details these hazards, beginners risk entering extreme environments ill-prepared. This project addresses that gap by providing an immersive, data-driven web portal that balances the adventure of mountaineering with rigorous risk education, safety protocols, and structured preparation tools.</a:t>
            </a:r>
          </a:p>
          <a:p>
            <a:pPr lvl="0" algn="just"/>
            <a:endParaRPr lang="en-US" sz="1800" dirty="0">
              <a:latin typeface="Times New Roman"/>
              <a:ea typeface="Times New Roman"/>
              <a:cs typeface="Times New Roman"/>
              <a:sym typeface="Times New Roman"/>
            </a:endParaRPr>
          </a:p>
          <a:p>
            <a:pPr lvl="0" algn="just"/>
            <a:r>
              <a:rPr lang="en-US" sz="1800" dirty="0">
                <a:latin typeface="Times New Roman"/>
                <a:ea typeface="Times New Roman"/>
                <a:cs typeface="Times New Roman"/>
                <a:sym typeface="Times New Roman"/>
              </a:rPr>
              <a:t>Also features upcoming Expeditions that will be hosted by Alpine Ascents Pakistan. First Educate than Fun.</a:t>
            </a:r>
          </a:p>
          <a:p>
            <a:pPr lvl="0" algn="just"/>
            <a:endParaRPr sz="1800" dirty="0">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a:latin typeface="Book Antiqua"/>
                <a:ea typeface="Book Antiqua"/>
                <a:cs typeface="Book Antiqua"/>
                <a:sym typeface="Book Antiqua"/>
              </a:rPr>
              <a:t>Customer Specifications:</a:t>
            </a:r>
            <a:endParaRPr sz="1800" dirty="0">
              <a:latin typeface="Times New Roman"/>
              <a:ea typeface="Times New Roman"/>
              <a:cs typeface="Times New Roman"/>
              <a:sym typeface="Times New Roman"/>
            </a:endParaRPr>
          </a:p>
          <a:p>
            <a:pPr marL="0" marR="0" lvl="0" indent="0" algn="l" rtl="0">
              <a:spcBef>
                <a:spcPts val="0"/>
              </a:spcBef>
              <a:spcAft>
                <a:spcPts val="0"/>
              </a:spcAft>
              <a:buNone/>
            </a:pPr>
            <a:r>
              <a:rPr lang="en-US" sz="1800" dirty="0">
                <a:latin typeface="Book Antiqua"/>
                <a:ea typeface="Book Antiqua"/>
                <a:cs typeface="Book Antiqua"/>
                <a:sym typeface="Book Antiqua"/>
              </a:rPr>
              <a:t> </a:t>
            </a:r>
            <a:endParaRPr sz="1800" dirty="0">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latin typeface="Book Antiqua"/>
                <a:ea typeface="Book Antiqua"/>
                <a:cs typeface="Book Antiqua"/>
                <a:sym typeface="Book Antiqua"/>
              </a:rPr>
              <a:t>Website will host information about common Risks, Preventions and Pre-measures. It will also display the latest news and information on nearly expected expedition.</a:t>
            </a:r>
            <a:endParaRPr sz="1800" dirty="0">
              <a:latin typeface="Times New Roman"/>
              <a:ea typeface="Times New Roman"/>
              <a:cs typeface="Times New Roman"/>
              <a:sym typeface="Times New Roman"/>
            </a:endParaRPr>
          </a:p>
          <a:p>
            <a:pPr marL="0" marR="0" lvl="0" indent="0" algn="l" rtl="0">
              <a:spcBef>
                <a:spcPts val="0"/>
              </a:spcBef>
              <a:spcAft>
                <a:spcPts val="0"/>
              </a:spcAft>
              <a:buNone/>
            </a:pPr>
            <a:r>
              <a:rPr lang="en-US" sz="1800" dirty="0">
                <a:latin typeface="Book Antiqua"/>
                <a:ea typeface="Book Antiqua"/>
                <a:cs typeface="Book Antiqua"/>
                <a:sym typeface="Book Antiqua"/>
              </a:rPr>
              <a:t> </a:t>
            </a:r>
            <a:endParaRPr sz="1800" dirty="0">
              <a:latin typeface="Times New Roman"/>
              <a:ea typeface="Times New Roman"/>
              <a:cs typeface="Times New Roman"/>
              <a:sym typeface="Times New Roman"/>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455"/>
        <p:cNvGrpSpPr/>
        <p:nvPr/>
      </p:nvGrpSpPr>
      <p:grpSpPr>
        <a:xfrm>
          <a:off x="0" y="0"/>
          <a:ext cx="0" cy="0"/>
          <a:chOff x="0" y="0"/>
          <a:chExt cx="0" cy="0"/>
        </a:xfrm>
      </p:grpSpPr>
      <p:sp>
        <p:nvSpPr>
          <p:cNvPr id="4" name="Rectangle 3">
            <a:extLst>
              <a:ext uri="{FF2B5EF4-FFF2-40B4-BE49-F238E27FC236}">
                <a16:creationId xmlns:a16="http://schemas.microsoft.com/office/drawing/2014/main" id="{034CBE33-1D0D-3CD9-2491-E9469DDC6AED}"/>
              </a:ext>
            </a:extLst>
          </p:cNvPr>
          <p:cNvSpPr>
            <a:spLocks noChangeArrowheads="1"/>
          </p:cNvSpPr>
          <p:nvPr/>
        </p:nvSpPr>
        <p:spPr bwMode="auto">
          <a:xfrm>
            <a:off x="0" y="1222769"/>
            <a:ext cx="12192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kumimoji="0" lang="en-US" altLang="en-US" b="1" i="0" u="none" strike="noStrike" cap="none" normalizeH="0" baseline="0" dirty="0">
                <a:ln>
                  <a:noFill/>
                </a:ln>
                <a:effectLst/>
                <a:latin typeface="Arial" panose="020B0604020202020204" pitchFamily="34" charset="0"/>
              </a:rPr>
              <a:t>Interactive Hero Section:</a:t>
            </a:r>
            <a:r>
              <a:rPr kumimoji="0" lang="en-US" altLang="en-US" b="0" i="0" u="none" strike="noStrike" cap="none" normalizeH="0" baseline="0" dirty="0">
                <a:ln>
                  <a:noFill/>
                </a:ln>
                <a:effectLst/>
                <a:latin typeface="Arial" panose="020B0604020202020204" pitchFamily="34" charset="0"/>
              </a:rPr>
              <a:t> Features a dynamic image carousel built with JavaScript and jQuery to create an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Arial" panose="020B0604020202020204" pitchFamily="34" charset="0"/>
              </a:rPr>
              <a:t> immersive, high-altitude visual experience right upon landing.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Balanced Educational Focus:</a:t>
            </a:r>
            <a:r>
              <a:rPr kumimoji="0" lang="en-US" altLang="en-US" sz="1800" b="0" i="0" u="none" strike="noStrike" cap="none" normalizeH="0" baseline="0" dirty="0">
                <a:ln>
                  <a:noFill/>
                </a:ln>
                <a:effectLst/>
                <a:latin typeface="Arial" panose="020B0604020202020204" pitchFamily="34" charset="0"/>
              </a:rPr>
              <a:t> Explicitly addresses both the thrilling adventure and the critical safety realities, dangers,</a:t>
            </a:r>
            <a:r>
              <a:rPr lang="en-US" altLang="en-US" sz="1800" dirty="0">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and physiological risks of mountaineering.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Comprehensive Risk Breakdown:</a:t>
            </a:r>
            <a:r>
              <a:rPr kumimoji="0" lang="en-US" altLang="en-US" sz="1800" b="0" i="0" u="none" strike="noStrike" cap="none" normalizeH="0" baseline="0" dirty="0">
                <a:ln>
                  <a:noFill/>
                </a:ln>
                <a:effectLst/>
                <a:latin typeface="Arial" panose="020B0604020202020204" pitchFamily="34" charset="0"/>
              </a:rPr>
              <a:t> Educates users on high-altitude hazards such as crevasse falls, acute mountain sickness (AMS), and sudden weather shifts.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Expedition Tier Filtering:</a:t>
            </a:r>
            <a:r>
              <a:rPr kumimoji="0" lang="en-US" altLang="en-US" sz="1800" b="0" i="0" u="none" strike="noStrike" cap="none" normalizeH="0" baseline="0" dirty="0">
                <a:ln>
                  <a:noFill/>
                </a:ln>
                <a:effectLst/>
                <a:latin typeface="Arial" panose="020B0604020202020204" pitchFamily="34" charset="0"/>
              </a:rPr>
              <a:t> Allows aspiring climbers to explore various climbs categorized by difficulty levels (Beginner, Intermediate, Extreme) to understand progressive skill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Interactive Survival Checklist:</a:t>
            </a:r>
            <a:r>
              <a:rPr kumimoji="0" lang="en-US" altLang="en-US" sz="1800" b="0" i="0" u="none" strike="noStrike" cap="none" normalizeH="0" baseline="0" dirty="0">
                <a:ln>
                  <a:noFill/>
                </a:ln>
                <a:effectLst/>
                <a:latin typeface="Arial" panose="020B0604020202020204" pitchFamily="34" charset="0"/>
              </a:rPr>
              <a:t> A jQuery-powered tool that lets users check off essential survival gear like crampons,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Arial" panose="020B0604020202020204" pitchFamily="34" charset="0"/>
              </a:rPr>
              <a:t> ice axes, and specialized layers before an expedition.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Lightweight Tech Stack:</a:t>
            </a:r>
            <a:r>
              <a:rPr kumimoji="0" lang="en-US" altLang="en-US" sz="1800" b="0" i="0" u="none" strike="noStrike" cap="none" normalizeH="0" baseline="0" dirty="0">
                <a:ln>
                  <a:noFill/>
                </a:ln>
                <a:effectLst/>
                <a:latin typeface="Arial" panose="020B0604020202020204" pitchFamily="34" charset="0"/>
              </a:rPr>
              <a:t> Developed purely using core web technologies (</a:t>
            </a:r>
            <a:r>
              <a:rPr kumimoji="0" lang="en-US" altLang="en-US" sz="1800" b="1" i="0" u="none" strike="noStrike" cap="none" normalizeH="0" baseline="0" dirty="0">
                <a:ln>
                  <a:noFill/>
                </a:ln>
                <a:effectLst/>
                <a:latin typeface="Arial" panose="020B0604020202020204" pitchFamily="34" charset="0"/>
              </a:rPr>
              <a:t>HTML5, CSS3, JavaScript, Bootstrap and jQuery</a:t>
            </a:r>
            <a:r>
              <a:rPr kumimoji="0" lang="en-US" altLang="en-US" sz="1800" b="0" i="0" u="none" strike="noStrike" cap="none" normalizeH="0" baseline="0" dirty="0">
                <a:ln>
                  <a:noFill/>
                </a:ln>
                <a:effectLst/>
                <a:latin typeface="Arial" panose="020B0604020202020204" pitchFamily="34" charset="0"/>
              </a:rPr>
              <a:t>) without relying on heavy frontend frameworks.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Responsive &amp; Accessible Design:</a:t>
            </a:r>
            <a:r>
              <a:rPr kumimoji="0" lang="en-US" altLang="en-US" sz="1800" b="0" i="0" u="none" strike="noStrike" cap="none" normalizeH="0" baseline="0" dirty="0">
                <a:ln>
                  <a:noFill/>
                </a:ln>
                <a:effectLst/>
                <a:latin typeface="Arial" panose="020B0604020202020204" pitchFamily="34" charset="0"/>
              </a:rPr>
              <a:t> Crafted with clean CSS layout principles and relative file structures ensuring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Arial" panose="020B0604020202020204" pitchFamily="34" charset="0"/>
              </a:rPr>
              <a:t>smooth performance across different screen sizes.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Offline Asset Management:</a:t>
            </a:r>
            <a:r>
              <a:rPr kumimoji="0" lang="en-US" altLang="en-US" sz="1800" b="0" i="0" u="none" strike="noStrike" cap="none" normalizeH="0" baseline="0" dirty="0">
                <a:ln>
                  <a:noFill/>
                </a:ln>
                <a:effectLst/>
                <a:latin typeface="Arial" panose="020B0604020202020204" pitchFamily="34" charset="0"/>
              </a:rPr>
              <a:t> Optimized with local image asset paths (images/photo-</a:t>
            </a:r>
            <a:r>
              <a:rPr kumimoji="0" lang="en-US" altLang="en-US" sz="1800" b="0" i="0" u="none" strike="noStrike" cap="none" normalizeH="0" baseline="0" dirty="0" err="1">
                <a:ln>
                  <a:noFill/>
                </a:ln>
                <a:effectLst/>
                <a:latin typeface="Arial" panose="020B0604020202020204" pitchFamily="34" charset="0"/>
              </a:rPr>
              <a:t>no.avif</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User Value &amp; Benefit:</a:t>
            </a:r>
            <a:r>
              <a:rPr kumimoji="0" lang="en-US" altLang="en-US" sz="1800" b="0" i="0" u="none" strike="noStrike" cap="none" normalizeH="0" baseline="0" dirty="0">
                <a:ln>
                  <a:noFill/>
                </a:ln>
                <a:effectLst/>
                <a:latin typeface="Arial" panose="020B0604020202020204" pitchFamily="34" charset="0"/>
              </a:rPr>
              <a:t> Equips beginners and outdoor enthusiasts with essential knowledge, safety protocols,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Arial" panose="020B0604020202020204" pitchFamily="34" charset="0"/>
              </a:rPr>
              <a:t>and preparation tools to prevent ill-prepared expeditions.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Institute Project Friendly:</a:t>
            </a:r>
            <a:r>
              <a:rPr kumimoji="0" lang="en-US" altLang="en-US" sz="1800" b="0" i="0" u="none" strike="noStrike" cap="none" normalizeH="0" baseline="0" dirty="0">
                <a:ln>
                  <a:noFill/>
                </a:ln>
                <a:effectLst/>
                <a:latin typeface="Arial" panose="020B0604020202020204" pitchFamily="34" charset="0"/>
              </a:rPr>
              <a:t> Designed as a structured, easy-to-explain portfolio piece that demonstrates practical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Arial" panose="020B0604020202020204" pitchFamily="34" charset="0"/>
              </a:rPr>
              <a:t>DOM manipulation, event handling, and modern UI design.</a:t>
            </a:r>
          </a:p>
        </p:txBody>
      </p:sp>
      <p:sp>
        <p:nvSpPr>
          <p:cNvPr id="5" name="TextBox 4">
            <a:extLst>
              <a:ext uri="{FF2B5EF4-FFF2-40B4-BE49-F238E27FC236}">
                <a16:creationId xmlns:a16="http://schemas.microsoft.com/office/drawing/2014/main" id="{36A3B2B9-0A3C-AA26-005E-064882C38C28}"/>
              </a:ext>
            </a:extLst>
          </p:cNvPr>
          <p:cNvSpPr txBox="1"/>
          <p:nvPr/>
        </p:nvSpPr>
        <p:spPr>
          <a:xfrm>
            <a:off x="3972560" y="157999"/>
            <a:ext cx="3627120" cy="646331"/>
          </a:xfrm>
          <a:prstGeom prst="rect">
            <a:avLst/>
          </a:prstGeom>
          <a:noFill/>
        </p:spPr>
        <p:txBody>
          <a:bodyPr wrap="square" rtlCol="0">
            <a:spAutoFit/>
          </a:bodyPr>
          <a:lstStyle/>
          <a:p>
            <a:r>
              <a:rPr lang="en-US" sz="3600" b="1" i="1" u="sng" dirty="0">
                <a:solidFill>
                  <a:srgbClr val="002060"/>
                </a:solidFill>
                <a:effectLst>
                  <a:outerShdw blurRad="38100" dist="38100" dir="2700000" algn="tl">
                    <a:srgbClr val="000000">
                      <a:alpha val="43137"/>
                    </a:srgbClr>
                  </a:outerShdw>
                </a:effectLst>
              </a:rPr>
              <a:t>KEY 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604"/>
        <p:cNvGrpSpPr/>
        <p:nvPr/>
      </p:nvGrpSpPr>
      <p:grpSpPr>
        <a:xfrm>
          <a:off x="0" y="0"/>
          <a:ext cx="0" cy="0"/>
          <a:chOff x="0" y="0"/>
          <a:chExt cx="0" cy="0"/>
        </a:xfrm>
      </p:grpSpPr>
      <p:sp>
        <p:nvSpPr>
          <p:cNvPr id="605" name="Google Shape;605;p32"/>
          <p:cNvSpPr/>
          <p:nvPr/>
        </p:nvSpPr>
        <p:spPr>
          <a:xfrm>
            <a:off x="1652427" y="2311685"/>
            <a:ext cx="8887146"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600" b="1">
                <a:solidFill>
                  <a:schemeClr val="lt1"/>
                </a:solidFill>
                <a:latin typeface="Times New Roman"/>
                <a:ea typeface="Times New Roman"/>
                <a:cs typeface="Times New Roman"/>
                <a:sym typeface="Times New Roman"/>
              </a:rPr>
              <a:t>USER-PANEL </a:t>
            </a:r>
            <a:endParaRPr sz="9600" b="1">
              <a:solidFill>
                <a:schemeClr val="lt1"/>
              </a:solidFill>
              <a:latin typeface="Times New Roman"/>
              <a:ea typeface="Times New Roman"/>
              <a:cs typeface="Times New Roman"/>
              <a:sym typeface="Times New Roman"/>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5"/>
                                        </p:tgtEl>
                                        <p:attrNameLst>
                                          <p:attrName>style.visibility</p:attrName>
                                        </p:attrNameLst>
                                      </p:cBhvr>
                                      <p:to>
                                        <p:strVal val="visible"/>
                                      </p:to>
                                    </p:set>
                                    <p:animEffect transition="in" filter="fade">
                                      <p:cBhvr>
                                        <p:cTn id="7" dur="500"/>
                                        <p:tgtEl>
                                          <p:spTgt spid="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pic>
        <p:nvPicPr>
          <p:cNvPr id="3" name="Picture 2">
            <a:extLst>
              <a:ext uri="{FF2B5EF4-FFF2-40B4-BE49-F238E27FC236}">
                <a16:creationId xmlns:a16="http://schemas.microsoft.com/office/drawing/2014/main" id="{1F63206A-B85D-FA0B-7653-C702C7589BCA}"/>
              </a:ext>
            </a:extLst>
          </p:cNvPr>
          <p:cNvPicPr>
            <a:picLocks noChangeAspect="1"/>
          </p:cNvPicPr>
          <p:nvPr/>
        </p:nvPicPr>
        <p:blipFill>
          <a:blip r:embed="rId3"/>
          <a:srcRect r="664"/>
          <a:stretch>
            <a:fillRect/>
          </a:stretch>
        </p:blipFill>
        <p:spPr>
          <a:xfrm>
            <a:off x="0" y="1282319"/>
            <a:ext cx="12192000" cy="5575681"/>
          </a:xfrm>
          <a:prstGeom prst="rect">
            <a:avLst/>
          </a:prstGeom>
        </p:spPr>
      </p:pic>
      <p:sp>
        <p:nvSpPr>
          <p:cNvPr id="627" name="Google Shape;627;p35"/>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a:t>HOME:</a:t>
            </a:r>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B3138-CBDE-3CD6-215F-B9D64D3DE498}"/>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52575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6"/>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a:t>ABOUT US :</a:t>
            </a:r>
            <a:endParaRPr/>
          </a:p>
        </p:txBody>
      </p:sp>
      <p:pic>
        <p:nvPicPr>
          <p:cNvPr id="5" name="Picture 4">
            <a:extLst>
              <a:ext uri="{FF2B5EF4-FFF2-40B4-BE49-F238E27FC236}">
                <a16:creationId xmlns:a16="http://schemas.microsoft.com/office/drawing/2014/main" id="{5B524BF2-2A95-97D3-8BFE-A437C614E049}"/>
              </a:ext>
            </a:extLst>
          </p:cNvPr>
          <p:cNvPicPr>
            <a:picLocks noChangeAspect="1"/>
          </p:cNvPicPr>
          <p:nvPr/>
        </p:nvPicPr>
        <p:blipFill>
          <a:blip r:embed="rId3"/>
          <a:srcRect r="969"/>
          <a:stretch>
            <a:fillRect/>
          </a:stretch>
        </p:blipFill>
        <p:spPr>
          <a:xfrm>
            <a:off x="0" y="1344549"/>
            <a:ext cx="12192000" cy="55134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2ED718-8128-0203-231C-F5D19549D49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2768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37"/>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dirty="0"/>
              <a:t>Services:</a:t>
            </a:r>
            <a:endParaRPr dirty="0"/>
          </a:p>
        </p:txBody>
      </p:sp>
      <p:pic>
        <p:nvPicPr>
          <p:cNvPr id="5" name="Picture 4">
            <a:extLst>
              <a:ext uri="{FF2B5EF4-FFF2-40B4-BE49-F238E27FC236}">
                <a16:creationId xmlns:a16="http://schemas.microsoft.com/office/drawing/2014/main" id="{AA87A129-73CC-1DBD-4776-B7DAA912338A}"/>
              </a:ext>
            </a:extLst>
          </p:cNvPr>
          <p:cNvPicPr>
            <a:picLocks noChangeAspect="1"/>
          </p:cNvPicPr>
          <p:nvPr/>
        </p:nvPicPr>
        <p:blipFill>
          <a:blip r:embed="rId3"/>
          <a:srcRect r="817" b="1691"/>
          <a:stretch>
            <a:fillRect/>
          </a:stretch>
        </p:blipFill>
        <p:spPr>
          <a:xfrm>
            <a:off x="0" y="1434045"/>
            <a:ext cx="12192000" cy="5423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38"/>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dirty="0"/>
              <a:t>School:</a:t>
            </a:r>
            <a:endParaRPr dirty="0"/>
          </a:p>
        </p:txBody>
      </p:sp>
      <p:pic>
        <p:nvPicPr>
          <p:cNvPr id="5" name="Picture 4">
            <a:extLst>
              <a:ext uri="{FF2B5EF4-FFF2-40B4-BE49-F238E27FC236}">
                <a16:creationId xmlns:a16="http://schemas.microsoft.com/office/drawing/2014/main" id="{72E52A90-DF69-C830-E567-DD3B32EE681C}"/>
              </a:ext>
            </a:extLst>
          </p:cNvPr>
          <p:cNvPicPr>
            <a:picLocks noChangeAspect="1"/>
          </p:cNvPicPr>
          <p:nvPr/>
        </p:nvPicPr>
        <p:blipFill>
          <a:blip r:embed="rId3"/>
          <a:srcRect t="794" b="1153"/>
          <a:stretch>
            <a:fillRect/>
          </a:stretch>
        </p:blipFill>
        <p:spPr>
          <a:xfrm>
            <a:off x="1" y="1212980"/>
            <a:ext cx="12191999" cy="56450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F615B8-8EB9-4033-D3C8-E3A63873C4B2}"/>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696433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9"/>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dirty="0"/>
              <a:t>Expeditions:</a:t>
            </a:r>
            <a:endParaRPr dirty="0"/>
          </a:p>
        </p:txBody>
      </p:sp>
      <p:pic>
        <p:nvPicPr>
          <p:cNvPr id="5" name="Picture 4">
            <a:extLst>
              <a:ext uri="{FF2B5EF4-FFF2-40B4-BE49-F238E27FC236}">
                <a16:creationId xmlns:a16="http://schemas.microsoft.com/office/drawing/2014/main" id="{85819057-1561-23CE-8BCC-5C1D5EDB1DAD}"/>
              </a:ext>
            </a:extLst>
          </p:cNvPr>
          <p:cNvPicPr>
            <a:picLocks noChangeAspect="1"/>
          </p:cNvPicPr>
          <p:nvPr/>
        </p:nvPicPr>
        <p:blipFill>
          <a:blip r:embed="rId3"/>
          <a:srcRect t="1" r="664" b="1239"/>
          <a:stretch>
            <a:fillRect/>
          </a:stretch>
        </p:blipFill>
        <p:spPr>
          <a:xfrm>
            <a:off x="0" y="1291771"/>
            <a:ext cx="12192000" cy="55662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5F1265-1F35-1C27-BAF8-EE5CBEE79E3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85203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0"/>
          <p:cNvSpPr txBox="1">
            <a:spLocks noGrp="1"/>
          </p:cNvSpPr>
          <p:nvPr>
            <p:ph type="title"/>
          </p:nvPr>
        </p:nvSpPr>
        <p:spPr>
          <a:xfrm>
            <a:off x="634029" y="232230"/>
            <a:ext cx="10923935" cy="105954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6000"/>
              <a:buFont typeface="Arial"/>
              <a:buNone/>
            </a:pPr>
            <a:r>
              <a:rPr lang="en-US"/>
              <a:t>CONTACT US :</a:t>
            </a:r>
            <a:endParaRPr/>
          </a:p>
        </p:txBody>
      </p:sp>
      <p:pic>
        <p:nvPicPr>
          <p:cNvPr id="5" name="Picture 4">
            <a:extLst>
              <a:ext uri="{FF2B5EF4-FFF2-40B4-BE49-F238E27FC236}">
                <a16:creationId xmlns:a16="http://schemas.microsoft.com/office/drawing/2014/main" id="{3369DDAB-52E4-B80A-9B4B-E99A9B122C4F}"/>
              </a:ext>
            </a:extLst>
          </p:cNvPr>
          <p:cNvPicPr>
            <a:picLocks noChangeAspect="1"/>
          </p:cNvPicPr>
          <p:nvPr/>
        </p:nvPicPr>
        <p:blipFill>
          <a:blip r:embed="rId3"/>
          <a:stretch>
            <a:fillRect/>
          </a:stretch>
        </p:blipFill>
        <p:spPr>
          <a:xfrm>
            <a:off x="3110" y="1291771"/>
            <a:ext cx="12192000" cy="55662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D292E3-E62B-7E06-4146-6188C5614CA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6111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Shape 730"/>
        <p:cNvGrpSpPr/>
        <p:nvPr/>
      </p:nvGrpSpPr>
      <p:grpSpPr>
        <a:xfrm>
          <a:off x="0" y="0"/>
          <a:ext cx="0" cy="0"/>
          <a:chOff x="0" y="0"/>
          <a:chExt cx="0" cy="0"/>
        </a:xfrm>
      </p:grpSpPr>
      <p:sp>
        <p:nvSpPr>
          <p:cNvPr id="732" name="Google Shape;732;p52"/>
          <p:cNvSpPr txBox="1">
            <a:spLocks noGrp="1"/>
          </p:cNvSpPr>
          <p:nvPr>
            <p:ph type="body" idx="1"/>
          </p:nvPr>
        </p:nvSpPr>
        <p:spPr>
          <a:xfrm>
            <a:off x="3460267" y="2772490"/>
            <a:ext cx="5271466" cy="131302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6600"/>
              <a:buNone/>
            </a:pPr>
            <a:r>
              <a:rPr lang="en-US" sz="6600" b="1" u="sng" dirty="0">
                <a:solidFill>
                  <a:srgbClr val="002060"/>
                </a:solidFill>
                <a:effectLst>
                  <a:outerShdw blurRad="38100" dist="38100" dir="2700000" algn="tl">
                    <a:srgbClr val="000000">
                      <a:alpha val="43137"/>
                    </a:srgbClr>
                  </a:outerShdw>
                </a:effectLst>
              </a:rPr>
              <a:t>THANK-YOU</a:t>
            </a:r>
            <a:endParaRPr u="sng" dirty="0">
              <a:solidFill>
                <a:srgbClr val="002060"/>
              </a:solidFill>
              <a:effectLst>
                <a:outerShdw blurRad="38100" dist="38100" dir="2700000" algn="tl">
                  <a:srgbClr val="000000">
                    <a:alpha val="43137"/>
                  </a:srgbClr>
                </a:outerShdw>
              </a:effectLst>
            </a:endParaRPr>
          </a:p>
        </p:txBody>
      </p:sp>
      <p:sp>
        <p:nvSpPr>
          <p:cNvPr id="2" name="TextBox 1">
            <a:extLst>
              <a:ext uri="{FF2B5EF4-FFF2-40B4-BE49-F238E27FC236}">
                <a16:creationId xmlns:a16="http://schemas.microsoft.com/office/drawing/2014/main" id="{25AAEBBA-237F-4657-FC74-9EF810300775}"/>
              </a:ext>
            </a:extLst>
          </p:cNvPr>
          <p:cNvSpPr txBox="1"/>
          <p:nvPr/>
        </p:nvSpPr>
        <p:spPr>
          <a:xfrm>
            <a:off x="261257" y="5271796"/>
            <a:ext cx="2995127" cy="646331"/>
          </a:xfrm>
          <a:prstGeom prst="rect">
            <a:avLst/>
          </a:prstGeom>
          <a:noFill/>
        </p:spPr>
        <p:txBody>
          <a:bodyPr wrap="square" rtlCol="0">
            <a:spAutoFit/>
          </a:bodyPr>
          <a:lstStyle/>
          <a:p>
            <a:r>
              <a:rPr lang="en-US" dirty="0">
                <a:solidFill>
                  <a:schemeClr val="tx1">
                    <a:lumMod val="95000"/>
                  </a:schemeClr>
                </a:solidFill>
              </a:rPr>
              <a:t>Regards,</a:t>
            </a:r>
            <a:br>
              <a:rPr lang="en-US" dirty="0">
                <a:solidFill>
                  <a:schemeClr val="tx1">
                    <a:lumMod val="95000"/>
                  </a:schemeClr>
                </a:solidFill>
              </a:rPr>
            </a:br>
            <a:r>
              <a:rPr lang="en-US" b="1" dirty="0">
                <a:solidFill>
                  <a:schemeClr val="tx1">
                    <a:lumMod val="95000"/>
                  </a:schemeClr>
                </a:solidFill>
                <a:effectLst>
                  <a:outerShdw blurRad="38100" dist="38100" dir="2700000" algn="tl">
                    <a:srgbClr val="000000">
                      <a:alpha val="43137"/>
                    </a:srgbClr>
                  </a:outerShdw>
                </a:effectLst>
              </a:rPr>
              <a:t>Team Alpine Ascents.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23</TotalTime>
  <Words>827</Words>
  <Application>Microsoft Office PowerPoint</Application>
  <PresentationFormat>Widescreen</PresentationFormat>
  <Paragraphs>60</Paragraphs>
  <Slides>20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Wingdings 3</vt:lpstr>
      <vt:lpstr>Book Antiqua</vt:lpstr>
      <vt:lpstr>Century Gothic</vt:lpstr>
      <vt:lpstr>Times New Roman</vt:lpstr>
      <vt:lpstr>Calibri</vt:lpstr>
      <vt:lpstr>Ion</vt:lpstr>
      <vt:lpstr>E PROJECT: Alpine Ascents  DOCUMENTATION </vt:lpstr>
      <vt:lpstr>PROJECT GROUP MEMBERS:</vt:lpstr>
      <vt:lpstr>CERTIFICATE:</vt:lpstr>
      <vt:lpstr>ACKNOWLEDGEMENT:</vt:lpstr>
      <vt:lpstr>ABSTRACT:</vt:lpstr>
      <vt:lpstr>PROBLEM STATEMENT:</vt:lpstr>
      <vt:lpstr>PowerPoint Presentation</vt:lpstr>
      <vt:lpstr>PowerPoint Presentation</vt:lpstr>
      <vt:lpstr>HOME:</vt:lpstr>
      <vt:lpstr>PowerPoint Presentation</vt:lpstr>
      <vt:lpstr>ABOUT US :</vt:lpstr>
      <vt:lpstr>PowerPoint Presentation</vt:lpstr>
      <vt:lpstr>Services:</vt:lpstr>
      <vt:lpstr>School:</vt:lpstr>
      <vt:lpstr>PowerPoint Presentation</vt:lpstr>
      <vt:lpstr>Expeditions:</vt:lpstr>
      <vt:lpstr>PowerPoint Presentation</vt:lpstr>
      <vt:lpstr>CONTACT US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cw</dc:creator>
  <cp:lastModifiedBy>Administrator</cp:lastModifiedBy>
  <cp:revision>3</cp:revision>
  <dcterms:created xsi:type="dcterms:W3CDTF">2025-10-01T17:02:15Z</dcterms:created>
  <dcterms:modified xsi:type="dcterms:W3CDTF">2026-10-01T11:14:43Z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